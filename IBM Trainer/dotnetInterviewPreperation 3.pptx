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0"/>
  </p:notesMasterIdLst>
  <p:handoutMasterIdLst>
    <p:handoutMasterId r:id="rId131"/>
  </p:handoutMasterIdLst>
  <p:sldIdLst>
    <p:sldId id="305" r:id="rId5"/>
    <p:sldId id="306" r:id="rId6"/>
    <p:sldId id="308" r:id="rId7"/>
    <p:sldId id="319" r:id="rId8"/>
    <p:sldId id="320" r:id="rId9"/>
    <p:sldId id="321" r:id="rId10"/>
    <p:sldId id="310" r:id="rId11"/>
    <p:sldId id="311" r:id="rId12"/>
    <p:sldId id="322" r:id="rId13"/>
    <p:sldId id="323" r:id="rId14"/>
    <p:sldId id="325" r:id="rId15"/>
    <p:sldId id="324" r:id="rId16"/>
    <p:sldId id="326" r:id="rId17"/>
    <p:sldId id="327" r:id="rId18"/>
    <p:sldId id="328" r:id="rId19"/>
    <p:sldId id="329" r:id="rId20"/>
    <p:sldId id="331" r:id="rId21"/>
    <p:sldId id="330" r:id="rId22"/>
    <p:sldId id="332" r:id="rId23"/>
    <p:sldId id="333" r:id="rId24"/>
    <p:sldId id="334" r:id="rId25"/>
    <p:sldId id="335" r:id="rId26"/>
    <p:sldId id="336" r:id="rId27"/>
    <p:sldId id="337" r:id="rId28"/>
    <p:sldId id="338" r:id="rId29"/>
    <p:sldId id="339" r:id="rId30"/>
    <p:sldId id="436" r:id="rId31"/>
    <p:sldId id="434" r:id="rId32"/>
    <p:sldId id="435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412" r:id="rId41"/>
    <p:sldId id="414" r:id="rId42"/>
    <p:sldId id="413" r:id="rId43"/>
    <p:sldId id="415" r:id="rId44"/>
    <p:sldId id="347" r:id="rId45"/>
    <p:sldId id="348" r:id="rId46"/>
    <p:sldId id="350" r:id="rId47"/>
    <p:sldId id="351" r:id="rId48"/>
    <p:sldId id="352" r:id="rId49"/>
    <p:sldId id="353" r:id="rId50"/>
    <p:sldId id="354" r:id="rId51"/>
    <p:sldId id="355" r:id="rId52"/>
    <p:sldId id="356" r:id="rId53"/>
    <p:sldId id="357" r:id="rId54"/>
    <p:sldId id="358" r:id="rId55"/>
    <p:sldId id="359" r:id="rId56"/>
    <p:sldId id="360" r:id="rId57"/>
    <p:sldId id="361" r:id="rId58"/>
    <p:sldId id="362" r:id="rId59"/>
    <p:sldId id="416" r:id="rId60"/>
    <p:sldId id="417" r:id="rId61"/>
    <p:sldId id="363" r:id="rId62"/>
    <p:sldId id="364" r:id="rId63"/>
    <p:sldId id="365" r:id="rId64"/>
    <p:sldId id="366" r:id="rId65"/>
    <p:sldId id="367" r:id="rId66"/>
    <p:sldId id="372" r:id="rId67"/>
    <p:sldId id="373" r:id="rId68"/>
    <p:sldId id="368" r:id="rId69"/>
    <p:sldId id="369" r:id="rId70"/>
    <p:sldId id="370" r:id="rId71"/>
    <p:sldId id="371" r:id="rId72"/>
    <p:sldId id="374" r:id="rId73"/>
    <p:sldId id="375" r:id="rId74"/>
    <p:sldId id="376" r:id="rId75"/>
    <p:sldId id="377" r:id="rId76"/>
    <p:sldId id="378" r:id="rId77"/>
    <p:sldId id="379" r:id="rId78"/>
    <p:sldId id="380" r:id="rId79"/>
    <p:sldId id="418" r:id="rId80"/>
    <p:sldId id="419" r:id="rId81"/>
    <p:sldId id="381" r:id="rId82"/>
    <p:sldId id="382" r:id="rId83"/>
    <p:sldId id="383" r:id="rId84"/>
    <p:sldId id="385" r:id="rId85"/>
    <p:sldId id="386" r:id="rId86"/>
    <p:sldId id="387" r:id="rId87"/>
    <p:sldId id="388" r:id="rId88"/>
    <p:sldId id="389" r:id="rId89"/>
    <p:sldId id="390" r:id="rId90"/>
    <p:sldId id="391" r:id="rId91"/>
    <p:sldId id="392" r:id="rId92"/>
    <p:sldId id="393" r:id="rId93"/>
    <p:sldId id="394" r:id="rId94"/>
    <p:sldId id="395" r:id="rId95"/>
    <p:sldId id="396" r:id="rId96"/>
    <p:sldId id="397" r:id="rId97"/>
    <p:sldId id="398" r:id="rId98"/>
    <p:sldId id="399" r:id="rId99"/>
    <p:sldId id="400" r:id="rId100"/>
    <p:sldId id="401" r:id="rId101"/>
    <p:sldId id="402" r:id="rId102"/>
    <p:sldId id="403" r:id="rId103"/>
    <p:sldId id="410" r:id="rId104"/>
    <p:sldId id="411" r:id="rId105"/>
    <p:sldId id="409" r:id="rId106"/>
    <p:sldId id="407" r:id="rId107"/>
    <p:sldId id="404" r:id="rId108"/>
    <p:sldId id="405" r:id="rId109"/>
    <p:sldId id="406" r:id="rId110"/>
    <p:sldId id="408" r:id="rId111"/>
    <p:sldId id="318" r:id="rId112"/>
    <p:sldId id="437" r:id="rId113"/>
    <p:sldId id="438" r:id="rId114"/>
    <p:sldId id="439" r:id="rId115"/>
    <p:sldId id="425" r:id="rId116"/>
    <p:sldId id="426" r:id="rId117"/>
    <p:sldId id="427" r:id="rId118"/>
    <p:sldId id="428" r:id="rId119"/>
    <p:sldId id="429" r:id="rId120"/>
    <p:sldId id="430" r:id="rId121"/>
    <p:sldId id="420" r:id="rId122"/>
    <p:sldId id="421" r:id="rId123"/>
    <p:sldId id="422" r:id="rId124"/>
    <p:sldId id="424" r:id="rId125"/>
    <p:sldId id="423" r:id="rId126"/>
    <p:sldId id="431" r:id="rId127"/>
    <p:sldId id="432" r:id="rId128"/>
    <p:sldId id="433" r:id="rId1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DCE9E4-0BE0-4D24-AEC9-BD7FD20C3DA9}" v="5" dt="2026-07-21T15:25:00.882"/>
  </p1510:revLst>
</p1510:revInfo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77"/>
    <p:restoredTop sz="94682"/>
  </p:normalViewPr>
  <p:slideViewPr>
    <p:cSldViewPr snapToGrid="0">
      <p:cViewPr varScale="1">
        <p:scale>
          <a:sx n="105" d="100"/>
          <a:sy n="105" d="100"/>
        </p:scale>
        <p:origin x="1116" y="96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theme" Target="theme/theme1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notesMaster" Target="notesMasters/notesMaster1.xml"/><Relationship Id="rId135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handoutMaster" Target="handoutMasters/handoutMaster1.xml"/><Relationship Id="rId136" Type="http://schemas.microsoft.com/office/2016/11/relationships/changesInfo" Target="changesInfos/changesInfo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presProps" Target="pres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Vivek" userId="e1283802-152e-4f89-8c80-79c6529de7e2" providerId="ADAL" clId="{33288C37-35E6-465C-89D8-5DB565F1F3CF}"/>
    <pc:docChg chg="undo custSel addSld delSld modSld">
      <pc:chgData name="Singh, Vivek" userId="e1283802-152e-4f89-8c80-79c6529de7e2" providerId="ADAL" clId="{33288C37-35E6-465C-89D8-5DB565F1F3CF}" dt="2026-07-21T15:25:00.870" v="243"/>
      <pc:docMkLst>
        <pc:docMk/>
      </pc:docMkLst>
      <pc:sldChg chg="del">
        <pc:chgData name="Singh, Vivek" userId="e1283802-152e-4f89-8c80-79c6529de7e2" providerId="ADAL" clId="{33288C37-35E6-465C-89D8-5DB565F1F3CF}" dt="2026-07-21T15:20:45.834" v="237" actId="2696"/>
        <pc:sldMkLst>
          <pc:docMk/>
          <pc:sldMk cId="3114644867" sldId="420"/>
        </pc:sldMkLst>
      </pc:sldChg>
      <pc:sldChg chg="add">
        <pc:chgData name="Singh, Vivek" userId="e1283802-152e-4f89-8c80-79c6529de7e2" providerId="ADAL" clId="{33288C37-35E6-465C-89D8-5DB565F1F3CF}" dt="2026-07-21T15:21:41.766" v="238"/>
        <pc:sldMkLst>
          <pc:docMk/>
          <pc:sldMk cId="4214290031" sldId="420"/>
        </pc:sldMkLst>
      </pc:sldChg>
      <pc:sldChg chg="add">
        <pc:chgData name="Singh, Vivek" userId="e1283802-152e-4f89-8c80-79c6529de7e2" providerId="ADAL" clId="{33288C37-35E6-465C-89D8-5DB565F1F3CF}" dt="2026-07-21T15:21:41.766" v="238"/>
        <pc:sldMkLst>
          <pc:docMk/>
          <pc:sldMk cId="2333890471" sldId="421"/>
        </pc:sldMkLst>
      </pc:sldChg>
      <pc:sldChg chg="del">
        <pc:chgData name="Singh, Vivek" userId="e1283802-152e-4f89-8c80-79c6529de7e2" providerId="ADAL" clId="{33288C37-35E6-465C-89D8-5DB565F1F3CF}" dt="2026-07-21T15:20:45.834" v="237" actId="2696"/>
        <pc:sldMkLst>
          <pc:docMk/>
          <pc:sldMk cId="3989260975" sldId="421"/>
        </pc:sldMkLst>
      </pc:sldChg>
      <pc:sldChg chg="add">
        <pc:chgData name="Singh, Vivek" userId="e1283802-152e-4f89-8c80-79c6529de7e2" providerId="ADAL" clId="{33288C37-35E6-465C-89D8-5DB565F1F3CF}" dt="2026-07-21T15:21:41.766" v="238"/>
        <pc:sldMkLst>
          <pc:docMk/>
          <pc:sldMk cId="1680459295" sldId="422"/>
        </pc:sldMkLst>
      </pc:sldChg>
      <pc:sldChg chg="del">
        <pc:chgData name="Singh, Vivek" userId="e1283802-152e-4f89-8c80-79c6529de7e2" providerId="ADAL" clId="{33288C37-35E6-465C-89D8-5DB565F1F3CF}" dt="2026-07-21T15:20:45.834" v="237" actId="2696"/>
        <pc:sldMkLst>
          <pc:docMk/>
          <pc:sldMk cId="2552556034" sldId="422"/>
        </pc:sldMkLst>
      </pc:sldChg>
      <pc:sldChg chg="del">
        <pc:chgData name="Singh, Vivek" userId="e1283802-152e-4f89-8c80-79c6529de7e2" providerId="ADAL" clId="{33288C37-35E6-465C-89D8-5DB565F1F3CF}" dt="2026-07-21T15:20:45.834" v="237" actId="2696"/>
        <pc:sldMkLst>
          <pc:docMk/>
          <pc:sldMk cId="1693150807" sldId="423"/>
        </pc:sldMkLst>
      </pc:sldChg>
      <pc:sldChg chg="add">
        <pc:chgData name="Singh, Vivek" userId="e1283802-152e-4f89-8c80-79c6529de7e2" providerId="ADAL" clId="{33288C37-35E6-465C-89D8-5DB565F1F3CF}" dt="2026-07-21T15:21:41.766" v="238"/>
        <pc:sldMkLst>
          <pc:docMk/>
          <pc:sldMk cId="4210581179" sldId="423"/>
        </pc:sldMkLst>
      </pc:sldChg>
      <pc:sldChg chg="del">
        <pc:chgData name="Singh, Vivek" userId="e1283802-152e-4f89-8c80-79c6529de7e2" providerId="ADAL" clId="{33288C37-35E6-465C-89D8-5DB565F1F3CF}" dt="2026-07-21T15:20:45.834" v="237" actId="2696"/>
        <pc:sldMkLst>
          <pc:docMk/>
          <pc:sldMk cId="1250317697" sldId="424"/>
        </pc:sldMkLst>
      </pc:sldChg>
      <pc:sldChg chg="add">
        <pc:chgData name="Singh, Vivek" userId="e1283802-152e-4f89-8c80-79c6529de7e2" providerId="ADAL" clId="{33288C37-35E6-465C-89D8-5DB565F1F3CF}" dt="2026-07-21T15:21:41.766" v="238"/>
        <pc:sldMkLst>
          <pc:docMk/>
          <pc:sldMk cId="2643278618" sldId="424"/>
        </pc:sldMkLst>
      </pc:sldChg>
      <pc:sldChg chg="del">
        <pc:chgData name="Singh, Vivek" userId="e1283802-152e-4f89-8c80-79c6529de7e2" providerId="ADAL" clId="{33288C37-35E6-465C-89D8-5DB565F1F3CF}" dt="2026-07-21T15:23:13.774" v="239" actId="2696"/>
        <pc:sldMkLst>
          <pc:docMk/>
          <pc:sldMk cId="1028809600" sldId="425"/>
        </pc:sldMkLst>
      </pc:sldChg>
      <pc:sldChg chg="add del">
        <pc:chgData name="Singh, Vivek" userId="e1283802-152e-4f89-8c80-79c6529de7e2" providerId="ADAL" clId="{33288C37-35E6-465C-89D8-5DB565F1F3CF}" dt="2026-07-21T15:24:17.559" v="241"/>
        <pc:sldMkLst>
          <pc:docMk/>
          <pc:sldMk cId="1732875798" sldId="425"/>
        </pc:sldMkLst>
      </pc:sldChg>
      <pc:sldChg chg="add">
        <pc:chgData name="Singh, Vivek" userId="e1283802-152e-4f89-8c80-79c6529de7e2" providerId="ADAL" clId="{33288C37-35E6-465C-89D8-5DB565F1F3CF}" dt="2026-07-21T15:24:21.220" v="242"/>
        <pc:sldMkLst>
          <pc:docMk/>
          <pc:sldMk cId="3518923165" sldId="425"/>
        </pc:sldMkLst>
      </pc:sldChg>
      <pc:sldChg chg="add del">
        <pc:chgData name="Singh, Vivek" userId="e1283802-152e-4f89-8c80-79c6529de7e2" providerId="ADAL" clId="{33288C37-35E6-465C-89D8-5DB565F1F3CF}" dt="2026-07-21T15:24:17.559" v="241"/>
        <pc:sldMkLst>
          <pc:docMk/>
          <pc:sldMk cId="1553410165" sldId="426"/>
        </pc:sldMkLst>
      </pc:sldChg>
      <pc:sldChg chg="add">
        <pc:chgData name="Singh, Vivek" userId="e1283802-152e-4f89-8c80-79c6529de7e2" providerId="ADAL" clId="{33288C37-35E6-465C-89D8-5DB565F1F3CF}" dt="2026-07-21T15:24:21.220" v="242"/>
        <pc:sldMkLst>
          <pc:docMk/>
          <pc:sldMk cId="1680804916" sldId="426"/>
        </pc:sldMkLst>
      </pc:sldChg>
      <pc:sldChg chg="del">
        <pc:chgData name="Singh, Vivek" userId="e1283802-152e-4f89-8c80-79c6529de7e2" providerId="ADAL" clId="{33288C37-35E6-465C-89D8-5DB565F1F3CF}" dt="2026-07-21T15:23:13.774" v="239" actId="2696"/>
        <pc:sldMkLst>
          <pc:docMk/>
          <pc:sldMk cId="4219255580" sldId="426"/>
        </pc:sldMkLst>
      </pc:sldChg>
      <pc:sldChg chg="add">
        <pc:chgData name="Singh, Vivek" userId="e1283802-152e-4f89-8c80-79c6529de7e2" providerId="ADAL" clId="{33288C37-35E6-465C-89D8-5DB565F1F3CF}" dt="2026-07-21T15:24:21.220" v="242"/>
        <pc:sldMkLst>
          <pc:docMk/>
          <pc:sldMk cId="2241025865" sldId="427"/>
        </pc:sldMkLst>
      </pc:sldChg>
      <pc:sldChg chg="add del">
        <pc:chgData name="Singh, Vivek" userId="e1283802-152e-4f89-8c80-79c6529de7e2" providerId="ADAL" clId="{33288C37-35E6-465C-89D8-5DB565F1F3CF}" dt="2026-07-21T15:24:17.559" v="241"/>
        <pc:sldMkLst>
          <pc:docMk/>
          <pc:sldMk cId="2372767376" sldId="427"/>
        </pc:sldMkLst>
      </pc:sldChg>
      <pc:sldChg chg="del">
        <pc:chgData name="Singh, Vivek" userId="e1283802-152e-4f89-8c80-79c6529de7e2" providerId="ADAL" clId="{33288C37-35E6-465C-89D8-5DB565F1F3CF}" dt="2026-07-21T15:23:13.774" v="239" actId="2696"/>
        <pc:sldMkLst>
          <pc:docMk/>
          <pc:sldMk cId="3589543687" sldId="427"/>
        </pc:sldMkLst>
      </pc:sldChg>
      <pc:sldChg chg="add del">
        <pc:chgData name="Singh, Vivek" userId="e1283802-152e-4f89-8c80-79c6529de7e2" providerId="ADAL" clId="{33288C37-35E6-465C-89D8-5DB565F1F3CF}" dt="2026-07-21T15:24:17.559" v="241"/>
        <pc:sldMkLst>
          <pc:docMk/>
          <pc:sldMk cId="2722483191" sldId="428"/>
        </pc:sldMkLst>
      </pc:sldChg>
      <pc:sldChg chg="add">
        <pc:chgData name="Singh, Vivek" userId="e1283802-152e-4f89-8c80-79c6529de7e2" providerId="ADAL" clId="{33288C37-35E6-465C-89D8-5DB565F1F3CF}" dt="2026-07-21T15:24:21.220" v="242"/>
        <pc:sldMkLst>
          <pc:docMk/>
          <pc:sldMk cId="3895023006" sldId="428"/>
        </pc:sldMkLst>
      </pc:sldChg>
      <pc:sldChg chg="del">
        <pc:chgData name="Singh, Vivek" userId="e1283802-152e-4f89-8c80-79c6529de7e2" providerId="ADAL" clId="{33288C37-35E6-465C-89D8-5DB565F1F3CF}" dt="2026-07-21T15:23:13.774" v="239" actId="2696"/>
        <pc:sldMkLst>
          <pc:docMk/>
          <pc:sldMk cId="3912512671" sldId="428"/>
        </pc:sldMkLst>
      </pc:sldChg>
      <pc:sldChg chg="del">
        <pc:chgData name="Singh, Vivek" userId="e1283802-152e-4f89-8c80-79c6529de7e2" providerId="ADAL" clId="{33288C37-35E6-465C-89D8-5DB565F1F3CF}" dt="2026-07-21T15:23:13.774" v="239" actId="2696"/>
        <pc:sldMkLst>
          <pc:docMk/>
          <pc:sldMk cId="210784372" sldId="429"/>
        </pc:sldMkLst>
      </pc:sldChg>
      <pc:sldChg chg="add">
        <pc:chgData name="Singh, Vivek" userId="e1283802-152e-4f89-8c80-79c6529de7e2" providerId="ADAL" clId="{33288C37-35E6-465C-89D8-5DB565F1F3CF}" dt="2026-07-21T15:24:21.220" v="242"/>
        <pc:sldMkLst>
          <pc:docMk/>
          <pc:sldMk cId="721703318" sldId="429"/>
        </pc:sldMkLst>
      </pc:sldChg>
      <pc:sldChg chg="add del">
        <pc:chgData name="Singh, Vivek" userId="e1283802-152e-4f89-8c80-79c6529de7e2" providerId="ADAL" clId="{33288C37-35E6-465C-89D8-5DB565F1F3CF}" dt="2026-07-21T15:24:17.559" v="241"/>
        <pc:sldMkLst>
          <pc:docMk/>
          <pc:sldMk cId="2712459080" sldId="429"/>
        </pc:sldMkLst>
      </pc:sldChg>
      <pc:sldChg chg="del">
        <pc:chgData name="Singh, Vivek" userId="e1283802-152e-4f89-8c80-79c6529de7e2" providerId="ADAL" clId="{33288C37-35E6-465C-89D8-5DB565F1F3CF}" dt="2026-07-21T15:23:13.774" v="239" actId="2696"/>
        <pc:sldMkLst>
          <pc:docMk/>
          <pc:sldMk cId="286865691" sldId="430"/>
        </pc:sldMkLst>
      </pc:sldChg>
      <pc:sldChg chg="add">
        <pc:chgData name="Singh, Vivek" userId="e1283802-152e-4f89-8c80-79c6529de7e2" providerId="ADAL" clId="{33288C37-35E6-465C-89D8-5DB565F1F3CF}" dt="2026-07-21T15:24:21.220" v="242"/>
        <pc:sldMkLst>
          <pc:docMk/>
          <pc:sldMk cId="2266942090" sldId="430"/>
        </pc:sldMkLst>
      </pc:sldChg>
      <pc:sldChg chg="add del">
        <pc:chgData name="Singh, Vivek" userId="e1283802-152e-4f89-8c80-79c6529de7e2" providerId="ADAL" clId="{33288C37-35E6-465C-89D8-5DB565F1F3CF}" dt="2026-07-21T15:24:17.559" v="241"/>
        <pc:sldMkLst>
          <pc:docMk/>
          <pc:sldMk cId="3935345079" sldId="430"/>
        </pc:sldMkLst>
      </pc:sldChg>
      <pc:sldChg chg="add">
        <pc:chgData name="Singh, Vivek" userId="e1283802-152e-4f89-8c80-79c6529de7e2" providerId="ADAL" clId="{33288C37-35E6-465C-89D8-5DB565F1F3CF}" dt="2026-07-21T15:25:00.870" v="243"/>
        <pc:sldMkLst>
          <pc:docMk/>
          <pc:sldMk cId="3909900669" sldId="437"/>
        </pc:sldMkLst>
      </pc:sldChg>
      <pc:sldChg chg="add">
        <pc:chgData name="Singh, Vivek" userId="e1283802-152e-4f89-8c80-79c6529de7e2" providerId="ADAL" clId="{33288C37-35E6-465C-89D8-5DB565F1F3CF}" dt="2026-07-21T15:25:00.870" v="243"/>
        <pc:sldMkLst>
          <pc:docMk/>
          <pc:sldMk cId="1588375167" sldId="438"/>
        </pc:sldMkLst>
      </pc:sldChg>
      <pc:sldChg chg="add">
        <pc:chgData name="Singh, Vivek" userId="e1283802-152e-4f89-8c80-79c6529de7e2" providerId="ADAL" clId="{33288C37-35E6-465C-89D8-5DB565F1F3CF}" dt="2026-07-21T15:25:00.870" v="243"/>
        <pc:sldMkLst>
          <pc:docMk/>
          <pc:sldMk cId="946930673" sldId="43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7/21/2026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🟦 Day 1 – .NET &amp; C# Fundamentals (Must-Answer Questions)</a:t>
            </a:r>
            <a:endParaRPr lang="en-US" dirty="0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81A7E9-3850-9818-6960-E630C9880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307816"/>
              </p:ext>
            </p:extLst>
          </p:nvPr>
        </p:nvGraphicFramePr>
        <p:xfrm>
          <a:off x="3382027" y="511479"/>
          <a:ext cx="8362790" cy="54150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8362790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5415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Day 1 – .NET &amp; C# Fundamentals (Must-Answer Questions)</a:t>
                      </a:r>
                      <a:br>
                        <a:rPr lang="en-US" b="1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Focus: Baseline questions interviewers expect you to answer confidently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What is .NET?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Difference between .NET Framework / .NET Core / .NET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What is IL (Intermediate Language)?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What is CLR?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What is managed code vs unmanaged code?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Why is .NET called a managed environment?</a:t>
                      </a:r>
                      <a:br>
                        <a:rPr lang="en-US" dirty="0">
                          <a:effectLst/>
                        </a:rPr>
                      </a:b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👉 How to explain in interviews (simple + confident)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dirty="0">
                          <a:effectLst/>
                        </a:rPr>
                        <a:t>👉 Follow-up questions interviewers usually 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>
                <a:solidFill>
                  <a:srgbClr val="262626"/>
                </a:solidFill>
                <a:latin typeface="Aptos"/>
              </a:rPr>
              <a:t>What is .NET?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94AC61-4F6E-98E2-D42B-F2114BBA12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4101" cy="4479925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347345" indent="-347345"/>
            <a:r>
              <a:rPr lang="en-US" dirty="0"/>
              <a:t>✅ Simple Interview Answer</a:t>
            </a:r>
          </a:p>
          <a:p>
            <a:pPr marL="347345" indent="-347345"/>
            <a:r>
              <a:rPr lang="en-US" b="1" dirty="0">
                <a:ea typeface="+mn-lt"/>
                <a:cs typeface="+mn-lt"/>
              </a:rPr>
              <a:t>.NET is a free, open-source development platform from Microsoft used to build different types of applications like web, desktop, cloud, mobile, and APIs using languages like C#.</a:t>
            </a:r>
            <a:endParaRPr lang="en-US" dirty="0"/>
          </a:p>
          <a:p>
            <a:pPr marL="347345" indent="-347345"/>
            <a:r>
              <a:rPr lang="en-US" dirty="0"/>
              <a:t>💡 If interviewer </a:t>
            </a:r>
            <a:r>
              <a:rPr lang="en-US" dirty="0" err="1"/>
              <a:t>asks</a:t>
            </a:r>
            <a:r>
              <a:rPr lang="en-US" dirty="0"/>
              <a:t> “platform means?”</a:t>
            </a:r>
          </a:p>
          <a:p>
            <a:pPr marL="749935" lvl="2" indent="0">
              <a:spcAft>
                <a:spcPts val="1800"/>
              </a:spcAft>
              <a:buNone/>
            </a:pPr>
            <a:r>
              <a:rPr lang="en-US" dirty="0">
                <a:ea typeface="+mn-lt"/>
                <a:cs typeface="+mn-lt"/>
              </a:rPr>
              <a:t>It provides:</a:t>
            </a:r>
            <a:endParaRPr lang="en-US"/>
          </a:p>
          <a:p>
            <a:pPr lvl="2" indent="-347345">
              <a:spcAft>
                <a:spcPts val="1800"/>
              </a:spcAft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Runtime (CLR)</a:t>
            </a:r>
            <a:endParaRPr lang="en-US"/>
          </a:p>
          <a:p>
            <a:pPr lvl="2" indent="-347345">
              <a:spcAft>
                <a:spcPts val="1800"/>
              </a:spcAft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Libraries (Base Class Library)</a:t>
            </a:r>
            <a:endParaRPr lang="en-US"/>
          </a:p>
          <a:p>
            <a:pPr lvl="2" indent="-347345">
              <a:spcAft>
                <a:spcPts val="1800"/>
              </a:spcAft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Languages (C#, F#)</a:t>
            </a:r>
            <a:endParaRPr lang="en-US"/>
          </a:p>
          <a:p>
            <a:pPr lvl="2" indent="-347345">
              <a:spcAft>
                <a:spcPts val="1800"/>
              </a:spcAft>
              <a:buFont typeface="Wingdings" panose="020B0604020202020204" pitchFamily="34" charset="0"/>
              <a:buChar char="§"/>
            </a:pPr>
            <a:r>
              <a:rPr lang="en-US" dirty="0">
                <a:ea typeface="+mn-lt"/>
                <a:cs typeface="+mn-lt"/>
              </a:rPr>
              <a:t>Tools (Visual Studio)</a:t>
            </a:r>
            <a:endParaRPr lang="en-US"/>
          </a:p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F2D92-0F2D-5F78-1DB8-C3F4FB25D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17184-1C50-5201-0FA7-DCB212A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>
                <a:solidFill>
                  <a:srgbClr val="262626"/>
                </a:solidFill>
                <a:latin typeface="Aptos"/>
              </a:rPr>
              <a:t>What is .NET?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3F7205-5388-5B0D-6936-ED048E8115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5272458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C# Code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↓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.NET Platform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↓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CLR + Libraries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↓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OS (Windows / Linux / Mac)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B2623-10A8-5049-A6DB-EF6F9004DB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EF31A8-A187-FC33-6CDE-DB43B9A8042C}"/>
              </a:ext>
            </a:extLst>
          </p:cNvPr>
          <p:cNvSpPr txBox="1"/>
          <p:nvPr/>
        </p:nvSpPr>
        <p:spPr>
          <a:xfrm>
            <a:off x="5219179" y="2197274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Follow-up Questions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Is .NET only for Windows? ❌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Which languages support .NET?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Is .NET free?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60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E9D64-C3C4-BCC2-B092-657C03BD4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BC7F-00B9-37C8-D773-49B0BCF8D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>
                <a:solidFill>
                  <a:srgbClr val="262626"/>
                </a:solidFill>
                <a:latin typeface="Aptos"/>
              </a:rPr>
              <a:t>Difference</a:t>
            </a:r>
            <a:r>
              <a:rPr lang="en-US">
                <a:solidFill>
                  <a:srgbClr val="262626"/>
                </a:solidFill>
                <a:ea typeface="+mj-lt"/>
                <a:cs typeface="+mj-lt"/>
              </a:rPr>
              <a:t>: .NET Framework vs .NET Core vs .NET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D55F55-B0C0-881C-54C6-F387E33B09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681636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347345" indent="-347345">
              <a:buNone/>
            </a:pPr>
            <a:r>
              <a:rPr lang="en-US"/>
              <a:t>✅ Short Interview Explanation</a:t>
            </a:r>
          </a:p>
          <a:p>
            <a:pPr marL="347345" indent="-347345">
              <a:buNone/>
            </a:pPr>
            <a:r>
              <a:rPr lang="en-US" b="1">
                <a:ea typeface="+mn-lt"/>
                <a:cs typeface="+mn-lt"/>
              </a:rPr>
              <a:t>    .NET Framework was Windows-only.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.NET Core was cross-platform.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.NET is the unified, modern version that replaced both.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.  NET Framework → Windows only</a:t>
            </a:r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  .NET Core → Cross-platform</a:t>
            </a:r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  .NET (5+) → Unified platform</a:t>
            </a:r>
            <a:endParaRPr lang="en-US"/>
          </a:p>
          <a:p>
            <a:pPr marL="347345" indent="-347345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E4997-FB40-E12C-9419-543180CAC8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201A0F-606D-AC66-66B7-AFEB29D01487}"/>
              </a:ext>
            </a:extLst>
          </p:cNvPr>
          <p:cNvSpPr txBox="1"/>
          <p:nvPr/>
        </p:nvSpPr>
        <p:spPr>
          <a:xfrm>
            <a:off x="1388301" y="5015630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🔁 Follow-up Questions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Why did Microsoft create .NET Core?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Is .NET Framework still used?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Which one should we use for new projects?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37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CA4CA-C8D6-BA88-A409-209ABFD3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62BD-31B8-B145-3980-EB9B61277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724" y="671915"/>
            <a:ext cx="10479024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What is IL (Intermediate Language)?</a:t>
            </a:r>
            <a:br>
              <a:rPr lang="en-US" dirty="0"/>
            </a:b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5139F7-8F99-782B-21D1-0DB1B32951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8536" y="1380252"/>
            <a:ext cx="11222319" cy="5283677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347345" indent="-347345">
              <a:buNone/>
            </a:pPr>
            <a:r>
              <a:rPr lang="en-US"/>
              <a:t>✅ Simple Interview Answer</a:t>
            </a:r>
          </a:p>
          <a:p>
            <a:pPr marL="347345" indent="-347345">
              <a:buNone/>
            </a:pPr>
            <a:r>
              <a:rPr lang="en-US" b="1">
                <a:ea typeface="+mn-lt"/>
                <a:cs typeface="+mn-lt"/>
              </a:rPr>
              <a:t>IL is an intermediate code generated from C# code, which is later converted into machine code by the CLR at runtime.</a:t>
            </a:r>
            <a:endParaRPr lang="en-US">
              <a:ea typeface="+mn-lt"/>
              <a:cs typeface="+mn-lt"/>
            </a:endParaRPr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IL makes .NET </a:t>
            </a:r>
            <a:r>
              <a:rPr lang="en-US" b="1">
                <a:ea typeface="+mn-lt"/>
                <a:cs typeface="+mn-lt"/>
              </a:rPr>
              <a:t>language-independent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C# Code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↓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IL Code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↓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CLR(JIT)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↓</a:t>
            </a:r>
            <a:endParaRPr lang="en-US"/>
          </a:p>
          <a:p>
            <a:pPr marL="347345" indent="-347345">
              <a:buNone/>
            </a:pPr>
            <a:r>
              <a:rPr lang="en-US">
                <a:ea typeface="+mn-lt"/>
                <a:cs typeface="+mn-lt"/>
              </a:rPr>
              <a:t>Machine Code</a:t>
            </a:r>
            <a:endParaRPr lang="en-US"/>
          </a:p>
          <a:p>
            <a:pPr marL="347345" indent="-347345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8326A-D78B-BFA6-0128-5E3D7E0636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FADEA-3D5D-99AD-E00E-72B141E7FA16}"/>
              </a:ext>
            </a:extLst>
          </p:cNvPr>
          <p:cNvSpPr txBox="1"/>
          <p:nvPr/>
        </p:nvSpPr>
        <p:spPr>
          <a:xfrm>
            <a:off x="3048000" y="3429000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Follow-up Questions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Who converts IL to machine code?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Why not convert directly to machine code?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Is IL same for all languages?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D1FD-9CC8-4CB0-8247-CFAB9069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What is CLR?</a:t>
            </a:r>
            <a:br>
              <a:rPr lang="en-US" dirty="0"/>
            </a:b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AD0987-D595-9D33-A24C-ED016A62A8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390690"/>
            <a:ext cx="8582291" cy="5450692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 marL="347345" indent="-347345"/>
            <a:r>
              <a:rPr lang="en-US" b="1">
                <a:ea typeface="+mn-lt"/>
                <a:cs typeface="+mn-lt"/>
              </a:rPr>
              <a:t>CLR (Common Language Runtime) is the execution engine of .NET that runs IL code and provides services like memory management, garbage collection, exception handling, and security.</a:t>
            </a:r>
            <a:endParaRPr lang="en-US"/>
          </a:p>
          <a:p>
            <a:pPr marL="384175" lvl="1" indent="0">
              <a:buNone/>
            </a:pPr>
            <a:r>
              <a:rPr lang="en-US" b="1"/>
              <a:t>What CLR Does</a:t>
            </a:r>
            <a:endParaRPr lang="en-US"/>
          </a:p>
          <a:p>
            <a:pPr lvl="1" indent="-347345">
              <a:spcAft>
                <a:spcPts val="1800"/>
              </a:spcAft>
            </a:pPr>
            <a:r>
              <a:rPr lang="en-US">
                <a:ea typeface="+mn-lt"/>
                <a:cs typeface="+mn-lt"/>
              </a:rPr>
              <a:t>Converts IL (half compiled)→ Machine code</a:t>
            </a:r>
          </a:p>
          <a:p>
            <a:pPr lvl="1" indent="-347345">
              <a:spcAft>
                <a:spcPts val="1800"/>
              </a:spcAft>
            </a:pPr>
            <a:r>
              <a:rPr lang="en-US">
                <a:ea typeface="+mn-lt"/>
                <a:cs typeface="+mn-lt"/>
              </a:rPr>
              <a:t>Manages memory (GC)</a:t>
            </a:r>
            <a:endParaRPr lang="en-US"/>
          </a:p>
          <a:p>
            <a:pPr lvl="1" indent="-347345">
              <a:spcAft>
                <a:spcPts val="1800"/>
              </a:spcAft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Handles exceptions</a:t>
            </a:r>
            <a:endParaRPr lang="en-US"/>
          </a:p>
          <a:p>
            <a:pPr lvl="1" indent="-347345">
              <a:spcAft>
                <a:spcPts val="1800"/>
              </a:spcAft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Enforces type safety</a:t>
            </a:r>
            <a:endParaRPr lang="en-US"/>
          </a:p>
          <a:p>
            <a:pPr marL="0" indent="0">
              <a:buNone/>
            </a:pPr>
            <a:r>
              <a:rPr lang="en-US" b="1"/>
              <a:t>Follow-up Questions</a:t>
            </a:r>
            <a:endParaRPr lang="en-US" b="1" dirty="0"/>
          </a:p>
          <a:p>
            <a:pPr marL="347345" indent="-347345"/>
            <a:r>
              <a:rPr lang="en-US">
                <a:ea typeface="+mn-lt"/>
                <a:cs typeface="+mn-lt"/>
              </a:rPr>
              <a:t>What is JIT?(diffrent ways per file,per function etc)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Does CLR handle memory automatically?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Is CLR present in .NET Framework and .NET?</a:t>
            </a:r>
            <a:endParaRPr lang="en-US"/>
          </a:p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73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5D67-56B9-4DBB-5270-4A51BFCD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Managed Code vs Unmanaged Code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A99276-CD22-5991-4B69-10020DC796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8243" y="1380252"/>
            <a:ext cx="10762903" cy="4636500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Interview Answer (Very Important)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Managed code runs under CLR control, while unmanaged code runs directly on the OS without CLR support.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30E-9FE8-F230-9BDF-13B152862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30DD519-EECC-1AE9-ECC9-39B40387F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82889"/>
              </p:ext>
            </p:extLst>
          </p:nvPr>
        </p:nvGraphicFramePr>
        <p:xfrm>
          <a:off x="1043836" y="2697480"/>
          <a:ext cx="6957542" cy="14630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478771">
                  <a:extLst>
                    <a:ext uri="{9D8B030D-6E8A-4147-A177-3AD203B41FA5}">
                      <a16:colId xmlns:a16="http://schemas.microsoft.com/office/drawing/2014/main" val="865639170"/>
                    </a:ext>
                  </a:extLst>
                </a:gridCol>
                <a:gridCol w="3478771">
                  <a:extLst>
                    <a:ext uri="{9D8B030D-6E8A-4147-A177-3AD203B41FA5}">
                      <a16:colId xmlns:a16="http://schemas.microsoft.com/office/drawing/2014/main" val="836060198"/>
                    </a:ext>
                  </a:extLst>
                </a:gridCol>
              </a:tblGrid>
              <a:tr h="270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Managed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Unmanaged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545263"/>
                  </a:ext>
                </a:extLst>
              </a:tr>
              <a:tr h="270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Runs under CLR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Runs directly on OS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522201"/>
                  </a:ext>
                </a:extLst>
              </a:tr>
              <a:tr h="270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Automatic memory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memory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242395"/>
                  </a:ext>
                </a:extLst>
              </a:tr>
              <a:tr h="270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Safer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50861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B8E44FC-0268-6817-3B9D-C718EF4E2818}"/>
              </a:ext>
            </a:extLst>
          </p:cNvPr>
          <p:cNvSpPr txBox="1"/>
          <p:nvPr/>
        </p:nvSpPr>
        <p:spPr>
          <a:xfrm>
            <a:off x="1043836" y="4488471"/>
            <a:ext cx="505216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Follow-up Questions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Can managed code call unmanaged code?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What is P/Invoke?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Why use unmanaged code?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0F884D-7949-F110-4C75-B4FE8C113915}"/>
              </a:ext>
            </a:extLst>
          </p:cNvPr>
          <p:cNvSpPr txBox="1"/>
          <p:nvPr/>
        </p:nvSpPr>
        <p:spPr>
          <a:xfrm>
            <a:off x="5866356" y="4577219"/>
            <a:ext cx="477032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Example (Interview Gold)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C#, VB → Managed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C, C++ → Unmanaged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98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5020-9ED4-5A95-699D-9787D8944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040C-F814-21DF-79C9-C0D7BFE52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Why is .NET called a Managed Environment?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B7593-6F30-C255-B3B0-CA6524315B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93543-46B2-A163-92B7-99B5CAFA32CE}"/>
              </a:ext>
            </a:extLst>
          </p:cNvPr>
          <p:cNvSpPr txBox="1"/>
          <p:nvPr/>
        </p:nvSpPr>
        <p:spPr>
          <a:xfrm>
            <a:off x="1377863" y="1508342"/>
            <a:ext cx="1008345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Perfect Interview Answer</a:t>
            </a:r>
          </a:p>
          <a:p>
            <a:pPr lvl="1">
              <a:buFont typeface=""/>
              <a:buNone/>
            </a:pPr>
            <a:r>
              <a:rPr lang="en-US" b="1"/>
              <a:t>.NET is called a managed environment because the CLR manages memory, execution, security, and exceptions automatically.</a:t>
            </a:r>
          </a:p>
          <a:p>
            <a:pPr lvl="1">
              <a:buFont typeface=""/>
            </a:pPr>
            <a:endParaRPr lang="en-US" b="1" dirty="0"/>
          </a:p>
          <a:p>
            <a:r>
              <a:rPr lang="en-US" b="1"/>
              <a:t>🧠 Key Word to Emphasize</a:t>
            </a:r>
          </a:p>
          <a:p>
            <a:r>
              <a:rPr lang="en-US"/>
              <a:t>👉 </a:t>
            </a:r>
            <a:r>
              <a:rPr lang="en-US" b="1"/>
              <a:t>“CLR manages the lifecycle of code execution.”</a:t>
            </a:r>
          </a:p>
          <a:p>
            <a:endParaRPr lang="en-US" b="1" dirty="0"/>
          </a:p>
          <a:p>
            <a:r>
              <a:rPr lang="en-US" b="1"/>
              <a:t>🔁 Follow-up Questions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happens if memory is not managed?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is Garbage Collection?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Is GC manual or automatic?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12DDE0-3C4E-E84E-92F4-FDF9604B8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913939"/>
              </p:ext>
            </p:extLst>
          </p:nvPr>
        </p:nvGraphicFramePr>
        <p:xfrm>
          <a:off x="0" y="5091830"/>
          <a:ext cx="12191994" cy="109728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426917">
                  <a:extLst>
                    <a:ext uri="{9D8B030D-6E8A-4147-A177-3AD203B41FA5}">
                      <a16:colId xmlns:a16="http://schemas.microsoft.com/office/drawing/2014/main" val="3323830837"/>
                    </a:ext>
                  </a:extLst>
                </a:gridCol>
                <a:gridCol w="2466060">
                  <a:extLst>
                    <a:ext uri="{9D8B030D-6E8A-4147-A177-3AD203B41FA5}">
                      <a16:colId xmlns:a16="http://schemas.microsoft.com/office/drawing/2014/main" val="938497632"/>
                    </a:ext>
                  </a:extLst>
                </a:gridCol>
                <a:gridCol w="2805308">
                  <a:extLst>
                    <a:ext uri="{9D8B030D-6E8A-4147-A177-3AD203B41FA5}">
                      <a16:colId xmlns:a16="http://schemas.microsoft.com/office/drawing/2014/main" val="3954852512"/>
                    </a:ext>
                  </a:extLst>
                </a:gridCol>
                <a:gridCol w="4493709">
                  <a:extLst>
                    <a:ext uri="{9D8B030D-6E8A-4147-A177-3AD203B41FA5}">
                      <a16:colId xmlns:a16="http://schemas.microsoft.com/office/drawing/2014/main" val="2394700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Latest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980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.NET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.NET 10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Nov 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LTS (supported until Nov 2028)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324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C# 14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Released with .NET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Latest language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852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540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B67F-AC1C-16A3-7D74-73D22EAEA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17830-7207-F939-1A3D-B4F470B9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🟦 Day 2 – .NET &amp; C# Fundamentals (Must-Answer Questions)</a:t>
            </a:r>
            <a:endParaRPr lang="en-US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61200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BC43-CC93-AF97-5701-79FAE34D2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9E91-AC0B-0EA2-DF50-1E4637D4C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E6E83-16DE-1EFD-8240-820BCF630A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070BD-8F76-7A8D-3CD5-82FEBF095C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71DCF3-1DC1-8663-032F-7D8155B65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250198"/>
              </p:ext>
            </p:extLst>
          </p:nvPr>
        </p:nvGraphicFramePr>
        <p:xfrm>
          <a:off x="3382027" y="511479"/>
          <a:ext cx="7292409" cy="605574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605574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effectLst/>
                        </a:rPr>
                        <a:t>Day 2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Memory &amp; Type System (Very High Impact)</a:t>
                      </a:r>
                      <a:endParaRPr lang="en-US" sz="1800" b="1" i="0" u="none" strike="noStrike" noProof="0"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These are deal-breaker questions if answered poorly.</a:t>
                      </a:r>
                      <a:endParaRPr lang="en-US" sz="1800" b="0" i="0" u="none" strike="noStrike" noProof="0"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Stack vs Heap (with real example)</a:t>
                      </a:r>
                      <a:br>
                        <a:rPr lang="en-US" dirty="0"/>
                      </a:b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Value types vs Reference types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What happens in memory when an object is created?</a:t>
                      </a:r>
                      <a:endParaRPr lang="en-US" sz="1800" b="0" i="0" u="none" strike="noStrike" noProof="0"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Why structs are stored differently from classes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What is boxing and unboxing?</a:t>
                      </a:r>
                      <a:endParaRPr lang="en-US" sz="1800" b="0" i="0" u="none" strike="noStrike" noProof="0"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Performance impact of boxing</a:t>
                      </a:r>
                      <a:br>
                        <a:rPr lang="en-US" dirty="0"/>
                      </a:b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👉 Whiteboard-style explanation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  <a:latin typeface="Aptos Light"/>
                        </a:rPr>
                        <a:t>👉 Real project examples (method calls, parameters)</a:t>
                      </a:r>
                      <a:endParaRPr lang="en-US" sz="1800" b="0" i="0" u="none" strike="noStrike" noProof="0">
                        <a:latin typeface="Aptos Light"/>
                      </a:endParaRPr>
                    </a:p>
                    <a:p>
                      <a:pPr lvl="0">
                        <a:buNone/>
                      </a:pP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034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30527-79FD-1782-284E-3BF750ED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AC4F6-DF16-9D4F-7484-7D8C968D5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Stack vs Heap (Concept)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599C6-94EF-E8A3-B9F6-150CCF800F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FA3FA-1ADA-CC33-9C0C-E1552E804A37}"/>
              </a:ext>
            </a:extLst>
          </p:cNvPr>
          <p:cNvSpPr txBox="1"/>
          <p:nvPr/>
        </p:nvSpPr>
        <p:spPr>
          <a:xfrm>
            <a:off x="1377863" y="1508342"/>
            <a:ext cx="10083451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Stack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Fast memory allocation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Stores: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Local variables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Method parameters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Value types (mostly)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Memory cleared automatically when method exits</a:t>
            </a:r>
            <a:endParaRPr lang="en-US"/>
          </a:p>
          <a:p>
            <a:r>
              <a:rPr lang="en-US" b="1"/>
              <a:t>Heap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Slower than stack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Stores: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Objects (reference types)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Arrays, strings, class instances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Managed by </a:t>
            </a:r>
            <a:r>
              <a:rPr lang="en-US" b="1">
                <a:ea typeface="+mn-lt"/>
                <a:cs typeface="+mn-lt"/>
              </a:rPr>
              <a:t>Garbage Collector (GC)</a:t>
            </a:r>
            <a:endParaRPr lang="en-US"/>
          </a:p>
          <a:p>
            <a:endParaRPr lang="en-US" b="1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26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91BE-DB24-F270-C4BB-6EC969E81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AED6-8177-BF4A-72DD-CBC2671AF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Stack vs Heap (Concept)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9A448-BC60-74EA-6F6A-D9C8F5D690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5EF6A-9AE5-3523-DA9C-2CDCED9D7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78" y="1426467"/>
            <a:ext cx="8477250" cy="3190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D638FE-B745-8661-A08F-EE889EB3C98F}"/>
              </a:ext>
            </a:extLst>
          </p:cNvPr>
          <p:cNvSpPr txBox="1"/>
          <p:nvPr/>
        </p:nvSpPr>
        <p:spPr>
          <a:xfrm>
            <a:off x="835068" y="4859055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Stack stores </a:t>
            </a:r>
            <a:r>
              <a:rPr lang="en-US" b="1"/>
              <a:t>reference</a:t>
            </a:r>
            <a:r>
              <a:rPr lang="en-US"/>
              <a:t>, not the actual object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Heap stores the </a:t>
            </a:r>
            <a:r>
              <a:rPr lang="en-US" b="1"/>
              <a:t>actual object data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27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B6062-C822-F282-63D2-82FE5582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35429-DBF8-81AB-6E6A-E7A684CD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Stack vs Heap (Real Example)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385F2-6C7F-8950-4545-0426265FBE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578642F-EDFC-1E23-95DB-B87AA94C2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84" y="1398087"/>
            <a:ext cx="8591550" cy="1619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0FE911-0EFC-03A3-F944-7CFCFB3FBD26}"/>
              </a:ext>
            </a:extLst>
          </p:cNvPr>
          <p:cNvSpPr txBox="1"/>
          <p:nvPr/>
        </p:nvSpPr>
        <p:spPr>
          <a:xfrm>
            <a:off x="741123" y="3564699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Memory Flow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 stored directly in stack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emp reference stored in stack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Employee object stored in heap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70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2F23-8CD7-9A91-3AF2-A8E135A49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01BB-72D7-5EBC-F8D4-E09F13D73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Value Types vs Reference Types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2ED4F-EFE0-4A6D-BD60-4EEDE04ADA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69B91-E69A-54E0-23E2-DC2F41968A05}"/>
              </a:ext>
            </a:extLst>
          </p:cNvPr>
          <p:cNvSpPr txBox="1"/>
          <p:nvPr/>
        </p:nvSpPr>
        <p:spPr>
          <a:xfrm>
            <a:off x="762000" y="1393521"/>
            <a:ext cx="659704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Value Types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Stored </a:t>
            </a:r>
            <a:r>
              <a:rPr lang="en-US" b="1"/>
              <a:t>directly in memory location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Copy by </a:t>
            </a:r>
            <a:r>
              <a:rPr lang="en-US" b="1"/>
              <a:t>value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Examples: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int, double, bool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struct, enum</a:t>
            </a:r>
          </a:p>
          <a:p>
            <a:pPr marL="0" lvl="1"/>
            <a:endParaRPr lang="en-US" dirty="0"/>
          </a:p>
          <a:p>
            <a:r>
              <a:rPr lang="en-US" b="1"/>
              <a:t>Reference Types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Stored in heap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Stack holds reference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Copy by </a:t>
            </a:r>
            <a:r>
              <a:rPr lang="en-US" b="1"/>
              <a:t>reference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Examples:</a:t>
            </a:r>
          </a:p>
          <a:p>
            <a:pPr marL="228600" lvl="1" indent="-228600">
              <a:buFont typeface=""/>
              <a:buChar char="•"/>
            </a:pPr>
            <a:r>
              <a:rPr lang="en-US"/>
              <a:t>class, array, string, object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2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EA7F1-C0B5-BF54-9B77-782A84EBE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31E77-7B14-95C7-7CAB-7C487B6AC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Value vs Reference (Code Example)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52390-899D-EA4C-A34A-980615F787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4" descr="dgfhgjhA white background with black text">
            <a:extLst>
              <a:ext uri="{FF2B5EF4-FFF2-40B4-BE49-F238E27FC236}">
                <a16:creationId xmlns:a16="http://schemas.microsoft.com/office/drawing/2014/main" id="{04490BEE-07E8-CB07-B21C-5B79345B4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57" y="1397762"/>
            <a:ext cx="8505825" cy="2809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A9132E-9552-5031-B3A6-987846D84D5F}"/>
              </a:ext>
            </a:extLst>
          </p:cNvPr>
          <p:cNvSpPr txBox="1"/>
          <p:nvPr/>
        </p:nvSpPr>
        <p:spPr>
          <a:xfrm>
            <a:off x="396658" y="4723356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Key Interview Line</a:t>
            </a:r>
          </a:p>
          <a:p>
            <a:pPr lvl="1">
              <a:buFont typeface=""/>
              <a:buNone/>
            </a:pPr>
            <a:r>
              <a:rPr lang="en-US" i="1"/>
              <a:t>Value types copy data, reference types copy address.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55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CFF4C-E053-AE92-F513-499D3615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BDD0-7943-9377-11C1-F13C6033C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Memory Lifecycle of an Object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923EC-E574-28A8-3824-A7DE1D644A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A5C08-EB4D-F117-973D-B2F3225FE6F0}"/>
              </a:ext>
            </a:extLst>
          </p:cNvPr>
          <p:cNvSpPr txBox="1"/>
          <p:nvPr/>
        </p:nvSpPr>
        <p:spPr>
          <a:xfrm>
            <a:off x="386219" y="1570973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Object lives in heap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Stack reference goes out of scope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Object becomes </a:t>
            </a:r>
            <a:r>
              <a:rPr lang="en-US" b="1"/>
              <a:t>eligible for GC</a:t>
            </a:r>
          </a:p>
          <a:p>
            <a:pPr marL="228600" indent="-228600">
              <a:buFont typeface=""/>
              <a:buChar char="•"/>
            </a:pPr>
            <a:r>
              <a:rPr lang="en-US"/>
              <a:t>GC cleans it during collection</a:t>
            </a:r>
          </a:p>
          <a:p>
            <a:pPr lvl="1">
              <a:buFont typeface=""/>
              <a:buNone/>
            </a:pPr>
            <a:r>
              <a:rPr lang="en-US"/>
              <a:t>❗ GC is </a:t>
            </a:r>
            <a:r>
              <a:rPr lang="en-US" b="1"/>
              <a:t>non-deterministic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89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E8DED-8A5B-2A38-9F96-90649E7C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0E4B5-D30B-69FA-F98B-56744DF9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What Happens When an Object Is Created?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E785F-10E5-2ED3-82B1-6A2D55B365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F0F01B-CF79-ED1B-FED4-FAA1F715A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55" y="1549117"/>
            <a:ext cx="8448675" cy="523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52DDBA-BA6D-61FF-2C4C-F2B1A63A61F2}"/>
              </a:ext>
            </a:extLst>
          </p:cNvPr>
          <p:cNvSpPr txBox="1"/>
          <p:nvPr/>
        </p:nvSpPr>
        <p:spPr>
          <a:xfrm>
            <a:off x="396658" y="2280781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Step-by-step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Stack allocates space for emp (reference)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Heap allocates memory for Employee object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Constructor initializes fields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Stack variable points to heap object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72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801E9-6D66-11BD-1DE1-2CB5D975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C69C-BC26-4143-42D8-9EA9D2AE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Why Structs Are Stored Differently from Classes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A2729-BB39-8D25-5739-3D5E4B689B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75D0BA-4212-0B70-EFAC-B2B31B811F7E}"/>
              </a:ext>
            </a:extLst>
          </p:cNvPr>
          <p:cNvSpPr txBox="1"/>
          <p:nvPr/>
        </p:nvSpPr>
        <p:spPr>
          <a:xfrm>
            <a:off x="751562" y="1518781"/>
            <a:ext cx="388306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Struct</a:t>
            </a:r>
          </a:p>
          <a:p>
            <a:pPr marL="228600" indent="-228600">
              <a:buFont typeface=""/>
              <a:buChar char="•"/>
            </a:pPr>
            <a:r>
              <a:rPr lang="en-US"/>
              <a:t>Value type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Stored on stack (usually)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No GC overhead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Cannot be null</a:t>
            </a:r>
          </a:p>
          <a:p>
            <a:endParaRPr lang="en-US" dirty="0"/>
          </a:p>
          <a:p>
            <a:r>
              <a:rPr lang="en-US" b="1"/>
              <a:t>Class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Reference type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Stored on heap</a:t>
            </a:r>
          </a:p>
          <a:p>
            <a:pPr marL="228600" indent="-228600">
              <a:buFont typeface=""/>
              <a:buChar char="•"/>
            </a:pPr>
            <a:r>
              <a:rPr lang="en-US"/>
              <a:t>GC managed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Can be null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D8744-16B6-A1DF-4AB8-0A4F21B5C7CA}"/>
              </a:ext>
            </a:extLst>
          </p:cNvPr>
          <p:cNvSpPr txBox="1"/>
          <p:nvPr/>
        </p:nvSpPr>
        <p:spPr>
          <a:xfrm>
            <a:off x="5668028" y="1518781"/>
            <a:ext cx="60960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Use Struct When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Small data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Immutable data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Short-lived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High-performance scenarios</a:t>
            </a:r>
          </a:p>
          <a:p>
            <a:endParaRPr lang="en-US" dirty="0"/>
          </a:p>
          <a:p>
            <a:r>
              <a:rPr lang="en-US" b="1"/>
              <a:t>Use Class When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Large objects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Complex behavior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Shared state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86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D2464-1BB4-7BF0-1AB5-73F06C0B0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0AE8-3A89-2AC5-9CC5-1B590FFB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Boxing &amp; Unboxing (Concept)      (Memory View)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88425-7424-7853-6D25-0EFBB52D94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6968D-313D-D4CA-A195-F804AA291201}"/>
              </a:ext>
            </a:extLst>
          </p:cNvPr>
          <p:cNvSpPr txBox="1"/>
          <p:nvPr/>
        </p:nvSpPr>
        <p:spPr>
          <a:xfrm>
            <a:off x="511479" y="1393521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Boxing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Converting value type → reference type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0E42D-107A-101C-329E-970726592A81}"/>
              </a:ext>
            </a:extLst>
          </p:cNvPr>
          <p:cNvSpPr txBox="1"/>
          <p:nvPr/>
        </p:nvSpPr>
        <p:spPr>
          <a:xfrm>
            <a:off x="511479" y="3429000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Unboxing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Reference type → value type</a:t>
            </a:r>
          </a:p>
          <a:p>
            <a:pPr algn="ctr"/>
            <a:endParaRPr lang="en-US"/>
          </a:p>
        </p:txBody>
      </p:sp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1D488AB-F715-F6A6-E6D0-68212DD64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937" y="1985897"/>
            <a:ext cx="3000375" cy="190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33CEA9-C062-A3B3-56E7-F29CC245F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3" y="2181420"/>
            <a:ext cx="3162300" cy="866775"/>
          </a:xfrm>
          <a:prstGeom prst="rect">
            <a:avLst/>
          </a:prstGeom>
        </p:spPr>
      </p:pic>
      <p:pic>
        <p:nvPicPr>
          <p:cNvPr id="12" name="Picture 11" descr="A close up of a word&#10;&#10;AI-generated content may be incorrect.">
            <a:extLst>
              <a:ext uri="{FF2B5EF4-FFF2-40B4-BE49-F238E27FC236}">
                <a16:creationId xmlns:a16="http://schemas.microsoft.com/office/drawing/2014/main" id="{DE71CEC8-F15C-879B-5898-A77793469D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297" r="3580" b="1923"/>
          <a:stretch>
            <a:fillRect/>
          </a:stretch>
        </p:blipFill>
        <p:spPr>
          <a:xfrm>
            <a:off x="625127" y="4258327"/>
            <a:ext cx="3666238" cy="5231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34AAA59-7DCC-75FE-72B6-D264AA3A645F}"/>
              </a:ext>
            </a:extLst>
          </p:cNvPr>
          <p:cNvSpPr txBox="1"/>
          <p:nvPr/>
        </p:nvSpPr>
        <p:spPr>
          <a:xfrm rot="-10800000" flipV="1">
            <a:off x="6106438" y="4352330"/>
            <a:ext cx="300624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Boxing creates </a:t>
            </a:r>
            <a:r>
              <a:rPr lang="en-US" b="1"/>
              <a:t>new object in heap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Copy happens both ways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21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8FFE8-B240-25EA-43B9-218AABD96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4C39-BB43-C5A2-DBE3-D0BC3030E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Performance Impact of Boxing      Real Project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1FA05-D4DA-FC24-1F01-6031333BB2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702391-6DBB-3475-159A-E757DD5589EA}"/>
              </a:ext>
            </a:extLst>
          </p:cNvPr>
          <p:cNvSpPr txBox="1"/>
          <p:nvPr/>
        </p:nvSpPr>
        <p:spPr>
          <a:xfrm>
            <a:off x="386219" y="1717110"/>
            <a:ext cx="3475974" cy="29040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Why Boxing Is Bad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Heap allocation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GC pressure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Extra CPU cycles</a:t>
            </a:r>
          </a:p>
          <a:p>
            <a:endParaRPr lang="en-US" dirty="0"/>
          </a:p>
          <a:p>
            <a:r>
              <a:rPr lang="en-US" b="1"/>
              <a:t>Real Impact</a:t>
            </a:r>
          </a:p>
          <a:p>
            <a:pPr marL="228600" indent="-228600">
              <a:buFont typeface=""/>
              <a:buChar char="•"/>
            </a:pPr>
            <a:r>
              <a:rPr lang="en-US"/>
              <a:t>Loops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Collections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High-frequency method calls</a:t>
            </a:r>
          </a:p>
          <a:p>
            <a:pPr algn="ctr"/>
            <a:endParaRPr lang="en-US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B61E5BE-6A0B-6BA8-3934-D39869C1E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644" y="1715870"/>
            <a:ext cx="3867150" cy="1171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9EF09A-8C16-E493-5B7F-CC66C0068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687" y="3044216"/>
            <a:ext cx="3390900" cy="383348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5415BF3-6F28-4DB6-0422-9D9F118D1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271" y="3933695"/>
            <a:ext cx="397192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65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9660F-A158-4567-6DF7-BA114602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702B-530B-29B4-0107-15C983F18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53" y="841248"/>
            <a:ext cx="10950795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Whiteboard Summary (Must Say in Interview)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922EF-8FB1-6C1E-2494-53E9ABA442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4DE4B-6D1E-A64D-B2DE-48BDC2D62911}"/>
              </a:ext>
            </a:extLst>
          </p:cNvPr>
          <p:cNvSpPr txBox="1"/>
          <p:nvPr/>
        </p:nvSpPr>
        <p:spPr>
          <a:xfrm>
            <a:off x="396658" y="1831932"/>
            <a:ext cx="529224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Stack = fast, short-lived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Heap = objects, GC managed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Value types copy data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Reference types copy address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Boxing = performance killer</a:t>
            </a:r>
          </a:p>
          <a:p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03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6A5A-5845-DA7F-EECC-D66594997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8B63A-8673-8651-4AC8-5A52EE9C2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🟦 Day 3 – .NET &amp; C# Fundamentals (Must-Answer Questions)</a:t>
            </a:r>
            <a:endParaRPr lang="en-US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73815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B0775-4971-4395-AA32-F8B59218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B792-F7C8-8BEE-59B7-D9710741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743705-5638-3FD3-F182-A0848B9507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4AFAE-5EF3-12CB-0807-EEDAF13EE5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A3D7E8-5DEF-D74C-43D5-39A205596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992907"/>
              </p:ext>
            </p:extLst>
          </p:nvPr>
        </p:nvGraphicFramePr>
        <p:xfrm>
          <a:off x="3382027" y="511479"/>
          <a:ext cx="7292409" cy="605574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605574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effectLst/>
                        </a:rPr>
                        <a:t>Day 3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OOPs (Asked in Every Interview)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Focus: How to explain using your project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Explain Encapsulation, Inheritance, Polymorphism, Abstraction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Real project example for each OOP concept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Interface vs Abstract class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When would you choose interface over abstract class?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Can a class implement multiple interfaces?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687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F9E3B-E369-A6BD-E5EE-876C2EE2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B96DF-3A51-6647-C098-D131C80EDD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F8A66-A6AF-E9DF-63F0-C8814EDD4CD9}"/>
              </a:ext>
            </a:extLst>
          </p:cNvPr>
          <p:cNvSpPr txBox="1"/>
          <p:nvPr/>
        </p:nvSpPr>
        <p:spPr>
          <a:xfrm>
            <a:off x="1492685" y="2249466"/>
            <a:ext cx="759912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Do you understand </a:t>
            </a:r>
            <a:r>
              <a:rPr lang="en-US" b="1"/>
              <a:t>why</a:t>
            </a:r>
            <a:r>
              <a:rPr lang="en-US"/>
              <a:t> OOP exists?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Can you </a:t>
            </a:r>
            <a:r>
              <a:rPr lang="en-US" b="1"/>
              <a:t>map concepts to real project code</a:t>
            </a:r>
            <a:r>
              <a:rPr lang="en-US"/>
              <a:t>?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9C321A-B70A-6835-5441-41E7A5916EE6}"/>
              </a:ext>
            </a:extLst>
          </p:cNvPr>
          <p:cNvSpPr txBox="1"/>
          <p:nvPr/>
        </p:nvSpPr>
        <p:spPr>
          <a:xfrm>
            <a:off x="1512913" y="886880"/>
            <a:ext cx="55299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What Interviewers ask for</a:t>
            </a:r>
          </a:p>
        </p:txBody>
      </p:sp>
    </p:spTree>
    <p:extLst>
      <p:ext uri="{BB962C8B-B14F-4D97-AF65-F5344CB8AC3E}">
        <p14:creationId xmlns:p14="http://schemas.microsoft.com/office/powerpoint/2010/main" val="3776719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7FDCE-26A3-604B-071B-CCD80236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0F3B8-FC34-531D-BAFC-396916CFED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4CB4FC-3C4F-F96D-9A4D-C052E237EB5C}"/>
              </a:ext>
            </a:extLst>
          </p:cNvPr>
          <p:cNvSpPr txBox="1"/>
          <p:nvPr/>
        </p:nvSpPr>
        <p:spPr>
          <a:xfrm>
            <a:off x="782228" y="417154"/>
            <a:ext cx="55299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Encapsulation (Concept)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C11BB8-14F3-9CCD-EB43-D89016536BAC}"/>
              </a:ext>
            </a:extLst>
          </p:cNvPr>
          <p:cNvSpPr txBox="1"/>
          <p:nvPr/>
        </p:nvSpPr>
        <p:spPr>
          <a:xfrm>
            <a:off x="782877" y="1257822"/>
            <a:ext cx="542794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Definition</a:t>
            </a:r>
          </a:p>
          <a:p>
            <a:r>
              <a:rPr lang="en-US"/>
              <a:t>Encapsulation means: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Hiding internal implementation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Exposing only what is required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Protecting object state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Key line:</a:t>
            </a:r>
            <a:r>
              <a:rPr lang="en-US" dirty="0"/>
              <a:t> </a:t>
            </a:r>
            <a:r>
              <a:rPr lang="en-US" i="1" dirty="0"/>
              <a:t>Encapsulation is about controlling access,</a:t>
            </a:r>
            <a:endParaRPr lang="en-US" dirty="0"/>
          </a:p>
          <a:p>
            <a:r>
              <a:rPr lang="en-US" i="1"/>
              <a:t> not just using private variables.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F4618-0917-6AAE-9DFD-3174F358B737}"/>
              </a:ext>
            </a:extLst>
          </p:cNvPr>
          <p:cNvSpPr txBox="1"/>
          <p:nvPr/>
        </p:nvSpPr>
        <p:spPr>
          <a:xfrm>
            <a:off x="7329806" y="534736"/>
            <a:ext cx="46561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Project Eg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F1D0B8B-A83C-A968-15F0-C5E41DDB2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179" y="1085655"/>
            <a:ext cx="5754275" cy="3267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389D76-0F6B-09B1-2BC0-FA5652189601}"/>
              </a:ext>
            </a:extLst>
          </p:cNvPr>
          <p:cNvSpPr txBox="1"/>
          <p:nvPr/>
        </p:nvSpPr>
        <p:spPr>
          <a:xfrm>
            <a:off x="6534411" y="4900808"/>
            <a:ext cx="494778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Explanation in Interview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Password is hidden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Validation logic controlled inside class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Prevents invalid object state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AA2FC-19A5-B855-70F0-2585E9430628}"/>
              </a:ext>
            </a:extLst>
          </p:cNvPr>
          <p:cNvSpPr txBox="1"/>
          <p:nvPr/>
        </p:nvSpPr>
        <p:spPr>
          <a:xfrm>
            <a:off x="521694" y="3664903"/>
            <a:ext cx="50082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From our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A08D2-BA88-154F-E1B0-4F09B629A7D1}"/>
              </a:ext>
            </a:extLst>
          </p:cNvPr>
          <p:cNvSpPr txBox="1"/>
          <p:nvPr/>
        </p:nvSpPr>
        <p:spPr>
          <a:xfrm>
            <a:off x="521917" y="4347575"/>
            <a:ext cx="575153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Examples you can mention: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DTOs exposing only required fields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Private setters with public getters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Service classes hiding DB logic</a:t>
            </a:r>
          </a:p>
          <a:p>
            <a:pPr lvl="1">
              <a:buFont typeface=""/>
              <a:buNone/>
            </a:pPr>
            <a:r>
              <a:rPr lang="en-US" i="1"/>
              <a:t>“UI doesn’t know how data is saved – it only calls the service.”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79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52064-CB58-DC71-113C-CC8C0FAC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4D130-E8DC-BBDC-5CBD-D20480D170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6BF700-4C1E-64F6-0BCB-9748103E2944}"/>
              </a:ext>
            </a:extLst>
          </p:cNvPr>
          <p:cNvSpPr txBox="1"/>
          <p:nvPr/>
        </p:nvSpPr>
        <p:spPr>
          <a:xfrm>
            <a:off x="782228" y="417154"/>
            <a:ext cx="55299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Encapsulation (Concept)</a:t>
            </a:r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52C40-E322-179A-4A43-79B661748F56}"/>
              </a:ext>
            </a:extLst>
          </p:cNvPr>
          <p:cNvSpPr txBox="1"/>
          <p:nvPr/>
        </p:nvSpPr>
        <p:spPr>
          <a:xfrm>
            <a:off x="782228" y="1174607"/>
            <a:ext cx="575153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Encapsulation is the process of bundling data and the methods that operate on that data into a single unit and restricting direct access to the internal data by providing controlled access through methods.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86038-A3CB-44F6-D70D-F5C6577344C6}"/>
              </a:ext>
            </a:extLst>
          </p:cNvPr>
          <p:cNvSpPr txBox="1"/>
          <p:nvPr/>
        </p:nvSpPr>
        <p:spPr>
          <a:xfrm>
            <a:off x="782227" y="2670724"/>
            <a:ext cx="575153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Encapsulation is hiding an object's internal state/implementation and exposing a controlled interface to interact with it.</a:t>
            </a:r>
          </a:p>
        </p:txBody>
      </p:sp>
    </p:spTree>
    <p:extLst>
      <p:ext uri="{BB962C8B-B14F-4D97-AF65-F5344CB8AC3E}">
        <p14:creationId xmlns:p14="http://schemas.microsoft.com/office/powerpoint/2010/main" val="1385509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94AE4-882F-5EE8-DE57-7F111E4C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889A3-7A93-ECAE-FBF3-DE743B9E76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3CC535-D65A-DFC4-2A7C-3B8D63EF8118}"/>
              </a:ext>
            </a:extLst>
          </p:cNvPr>
          <p:cNvSpPr txBox="1"/>
          <p:nvPr/>
        </p:nvSpPr>
        <p:spPr>
          <a:xfrm>
            <a:off x="782228" y="417154"/>
            <a:ext cx="55299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Difference between Abstraction and Encapsulation</a:t>
            </a:r>
            <a:endParaRPr lang="en-US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F646B11-0730-01F4-3439-71C6989DC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83" y="1419950"/>
            <a:ext cx="5125165" cy="476316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EFFB5C3-A897-BD74-064F-58F1F445D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877" y="306779"/>
            <a:ext cx="4713390" cy="624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06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2CA31-71D3-F0FD-F8B6-24FEC447D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C0B87-0620-8244-5B21-13DA4DDE90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A936B-9221-E41F-F2C2-5170B95B7F38}"/>
              </a:ext>
            </a:extLst>
          </p:cNvPr>
          <p:cNvSpPr txBox="1"/>
          <p:nvPr/>
        </p:nvSpPr>
        <p:spPr>
          <a:xfrm>
            <a:off x="782228" y="417154"/>
            <a:ext cx="55299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Difference between Abstraction and Encapsulation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FE28FC-8581-FE7A-AC41-B8039B154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08" y="705150"/>
            <a:ext cx="3743847" cy="10860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694930-10FC-3212-FBA2-2494A5D3A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108" y="2237103"/>
            <a:ext cx="3743847" cy="15432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405F33-6D05-BFE3-F6D6-43223E032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58" y="1323374"/>
            <a:ext cx="3975075" cy="4213825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3E67E9B-B517-F4AE-E16D-8759A40416AD}"/>
              </a:ext>
            </a:extLst>
          </p:cNvPr>
          <p:cNvGraphicFramePr>
            <a:graphicFrameLocks noGrp="1"/>
          </p:cNvGraphicFramePr>
          <p:nvPr/>
        </p:nvGraphicFramePr>
        <p:xfrm>
          <a:off x="672594" y="6191182"/>
          <a:ext cx="6515606" cy="668655"/>
        </p:xfrm>
        <a:graphic>
          <a:graphicData uri="http://schemas.openxmlformats.org/drawingml/2006/table">
            <a:tbl>
              <a:tblPr/>
              <a:tblGrid>
                <a:gridCol w="6515606">
                  <a:extLst>
                    <a:ext uri="{9D8B030D-6E8A-4147-A177-3AD203B41FA5}">
                      <a16:colId xmlns:a16="http://schemas.microsoft.com/office/drawing/2014/main" val="3798344184"/>
                    </a:ext>
                  </a:extLst>
                </a:gridCol>
              </a:tblGrid>
              <a:tr h="14871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Encapsulation hides data, abstraction hides complexity.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009389"/>
                  </a:ext>
                </a:extLst>
              </a:tr>
              <a:tr h="179575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833926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0AB0D5B5-BF8B-7EBC-58E0-53B72990E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24" y="4318000"/>
            <a:ext cx="6614131" cy="131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965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42C0-4D63-F9B5-8798-DA1E7911D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90" y="308892"/>
            <a:ext cx="3913298" cy="55778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Inheritance (Concept)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8CD9F-2F78-D7E3-8A68-C354A7481B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028F40-E2F5-529F-2AF5-BB745B4613C2}"/>
              </a:ext>
            </a:extLst>
          </p:cNvPr>
          <p:cNvSpPr txBox="1"/>
          <p:nvPr/>
        </p:nvSpPr>
        <p:spPr>
          <a:xfrm>
            <a:off x="448849" y="861164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Definition</a:t>
            </a:r>
          </a:p>
          <a:p>
            <a:r>
              <a:rPr lang="en-US"/>
              <a:t>Inheritance allows: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Reusing common behavior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Establishing IS-A relationship</a:t>
            </a:r>
          </a:p>
          <a:p>
            <a:pPr lvl="1">
              <a:buFont typeface=""/>
              <a:buNone/>
            </a:pPr>
            <a:r>
              <a:rPr lang="en-US" b="1"/>
              <a:t>Key line:</a:t>
            </a:r>
            <a:r>
              <a:rPr lang="en-US"/>
              <a:t> </a:t>
            </a:r>
            <a:r>
              <a:rPr lang="en-US" i="1"/>
              <a:t>Inheritance promotes reuse but should be used carefully.</a:t>
            </a:r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BC6353-0A74-CB38-A093-3A09BAC6BDF3}"/>
              </a:ext>
            </a:extLst>
          </p:cNvPr>
          <p:cNvSpPr txBox="1"/>
          <p:nvPr/>
        </p:nvSpPr>
        <p:spPr>
          <a:xfrm>
            <a:off x="6325544" y="456482"/>
            <a:ext cx="5373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Project Eg</a:t>
            </a:r>
          </a:p>
        </p:txBody>
      </p:sp>
      <p:pic>
        <p:nvPicPr>
          <p:cNvPr id="16" name="Picture 1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AE0B80D-36BB-D4CB-6EF6-B3A6AAC4B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01" y="995950"/>
            <a:ext cx="5105400" cy="30289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38C458-7114-BCDB-2557-1D53CA9F26B5}"/>
              </a:ext>
            </a:extLst>
          </p:cNvPr>
          <p:cNvSpPr txBox="1"/>
          <p:nvPr/>
        </p:nvSpPr>
        <p:spPr>
          <a:xfrm>
            <a:off x="6701425" y="4525027"/>
            <a:ext cx="389350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Interview Explanation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Common fields reused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Avoids duplication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Ensures consistency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63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A4432-0545-8510-872A-EF57C4B2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E8386-8B9A-BA44-0768-FE892EBA0F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1DDCC1-086E-228A-B7FF-0301CDE6D132}"/>
              </a:ext>
            </a:extLst>
          </p:cNvPr>
          <p:cNvSpPr txBox="1"/>
          <p:nvPr/>
        </p:nvSpPr>
        <p:spPr>
          <a:xfrm>
            <a:off x="448849" y="861164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Polymorphism allows: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Same interface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Different behavior</a:t>
            </a:r>
          </a:p>
          <a:p>
            <a:r>
              <a:rPr lang="en-US" i="1">
                <a:ea typeface="+mn-lt"/>
                <a:cs typeface="+mn-lt"/>
              </a:rPr>
              <a:t>Same method call, different execution.</a:t>
            </a:r>
            <a:endParaRPr lang="en-US">
              <a:ea typeface="+mn-lt"/>
              <a:cs typeface="+mn-lt"/>
            </a:endParaRPr>
          </a:p>
          <a:p>
            <a:pPr>
              <a:buFontTx/>
              <a:buNone/>
            </a:pPr>
            <a:endParaRPr lang="en-US" b="1" dirty="0"/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17BB0B-E43E-85D1-4025-253D8BDECAFC}"/>
              </a:ext>
            </a:extLst>
          </p:cNvPr>
          <p:cNvSpPr txBox="1"/>
          <p:nvPr/>
        </p:nvSpPr>
        <p:spPr>
          <a:xfrm>
            <a:off x="6325544" y="456482"/>
            <a:ext cx="5373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Project Eg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3B632-7957-DD56-CF29-DAB5E559ED61}"/>
              </a:ext>
            </a:extLst>
          </p:cNvPr>
          <p:cNvSpPr txBox="1"/>
          <p:nvPr/>
        </p:nvSpPr>
        <p:spPr>
          <a:xfrm>
            <a:off x="678203" y="10433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Polymorphism (Concept)</a:t>
            </a:r>
            <a:endParaRPr lang="en-US" b="1"/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019EDF0-1BE0-F197-946C-2B1D28C27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354" y="949499"/>
            <a:ext cx="49053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76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6C19C-8F39-0FD7-3996-BC916624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6972F-D7F8-F1D8-532B-EC5BA3C01C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2D366-A612-21DC-AB46-58FA840E7B1E}"/>
              </a:ext>
            </a:extLst>
          </p:cNvPr>
          <p:cNvSpPr txBox="1"/>
          <p:nvPr/>
        </p:nvSpPr>
        <p:spPr>
          <a:xfrm>
            <a:off x="448849" y="829849"/>
            <a:ext cx="4906028" cy="178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Abstraction focuses on: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What an object does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Not how it does it</a:t>
            </a:r>
            <a:endParaRPr lang="en-US"/>
          </a:p>
          <a:p>
            <a:r>
              <a:rPr lang="en-US" i="1">
                <a:ea typeface="+mn-lt"/>
                <a:cs typeface="+mn-lt"/>
              </a:rPr>
              <a:t>Abstraction reduces complexity.</a:t>
            </a:r>
            <a:endParaRPr lang="en-US">
              <a:ea typeface="+mn-lt"/>
              <a:cs typeface="+mn-lt"/>
            </a:endParaRPr>
          </a:p>
          <a:p>
            <a:pPr>
              <a:buFontTx/>
              <a:buNone/>
            </a:pPr>
            <a:endParaRPr lang="en-US" dirty="0"/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B748E7-00D7-1380-E7E5-2F62F96B490C}"/>
              </a:ext>
            </a:extLst>
          </p:cNvPr>
          <p:cNvSpPr txBox="1"/>
          <p:nvPr/>
        </p:nvSpPr>
        <p:spPr>
          <a:xfrm>
            <a:off x="6325544" y="456482"/>
            <a:ext cx="5373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Project Eg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2DD74-AED9-530A-A5BB-FE267E87F1CD}"/>
              </a:ext>
            </a:extLst>
          </p:cNvPr>
          <p:cNvSpPr txBox="1"/>
          <p:nvPr/>
        </p:nvSpPr>
        <p:spPr>
          <a:xfrm>
            <a:off x="678203" y="10433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Abstraction  </a:t>
            </a:r>
            <a:r>
              <a:rPr lang="en-US" b="1">
                <a:ea typeface="+mn-lt"/>
                <a:cs typeface="+mn-lt"/>
              </a:rPr>
              <a:t>(Concept)</a:t>
            </a:r>
            <a:endParaRPr lang="en-US" b="1"/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C9F6E77-F77A-FF9B-0BAC-902C882A4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211" y="1043640"/>
            <a:ext cx="4667250" cy="2390775"/>
          </a:xfrm>
          <a:prstGeom prst="rect">
            <a:avLst/>
          </a:prstGeom>
        </p:spPr>
      </p:pic>
      <p:pic>
        <p:nvPicPr>
          <p:cNvPr id="12" name="Picture 11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FB4B544A-5908-165C-16C9-70DE79029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12" y="4470617"/>
            <a:ext cx="7381875" cy="16954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B39951-36E7-AF30-50D5-3AC7E624BB8D}"/>
              </a:ext>
            </a:extLst>
          </p:cNvPr>
          <p:cNvSpPr txBox="1"/>
          <p:nvPr/>
        </p:nvSpPr>
        <p:spPr>
          <a:xfrm>
            <a:off x="612991" y="3769241"/>
            <a:ext cx="50213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Abstraction vs Encapsulation</a:t>
            </a:r>
          </a:p>
        </p:txBody>
      </p:sp>
    </p:spTree>
    <p:extLst>
      <p:ext uri="{BB962C8B-B14F-4D97-AF65-F5344CB8AC3E}">
        <p14:creationId xmlns:p14="http://schemas.microsoft.com/office/powerpoint/2010/main" val="663085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66785-AF0A-8928-3814-D84870D17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6BD82-C185-67C7-C0B9-A8D5AE70C9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0F4D5-3F60-ED9E-5F72-30C9ED079243}"/>
              </a:ext>
            </a:extLst>
          </p:cNvPr>
          <p:cNvSpPr txBox="1"/>
          <p:nvPr/>
        </p:nvSpPr>
        <p:spPr>
          <a:xfrm>
            <a:off x="448849" y="829849"/>
            <a:ext cx="490602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Interface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Contract only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 state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Multiple inheritance supported</a:t>
            </a:r>
            <a:endParaRPr lang="en-US"/>
          </a:p>
          <a:p>
            <a:endParaRPr lang="en-US" dirty="0"/>
          </a:p>
          <a:p>
            <a:r>
              <a:rPr lang="en-US"/>
              <a:t>Abstract Class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Partial implementation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Can have state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Single inheritance only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pPr>
              <a:buFontTx/>
              <a:buNone/>
            </a:pPr>
            <a:endParaRPr lang="en-US" dirty="0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9FDE8E-BD65-F6E2-A43E-E6910D3EB3DF}"/>
              </a:ext>
            </a:extLst>
          </p:cNvPr>
          <p:cNvSpPr txBox="1"/>
          <p:nvPr/>
        </p:nvSpPr>
        <p:spPr>
          <a:xfrm>
            <a:off x="678203" y="10433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Interface vs Abstract Class</a:t>
            </a:r>
            <a:endParaRPr lang="en-US" b="1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3480914-3146-5B21-FC22-0B4A2C5C9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314" y="827500"/>
            <a:ext cx="5162550" cy="2781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59B02C-6BE5-6AEF-F7F5-05C9DF588671}"/>
              </a:ext>
            </a:extLst>
          </p:cNvPr>
          <p:cNvSpPr txBox="1"/>
          <p:nvPr/>
        </p:nvSpPr>
        <p:spPr>
          <a:xfrm>
            <a:off x="6886365" y="247804"/>
            <a:ext cx="4616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Interface vs Abstract (Code View)</a:t>
            </a:r>
          </a:p>
        </p:txBody>
      </p:sp>
    </p:spTree>
    <p:extLst>
      <p:ext uri="{BB962C8B-B14F-4D97-AF65-F5344CB8AC3E}">
        <p14:creationId xmlns:p14="http://schemas.microsoft.com/office/powerpoint/2010/main" val="480754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68AB-7720-C9DC-4421-68092B301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717F2-7195-70F9-FE39-BBA67B6264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0D4B9C-F87F-47B1-CE4B-4D688B65D70F}"/>
              </a:ext>
            </a:extLst>
          </p:cNvPr>
          <p:cNvSpPr txBox="1"/>
          <p:nvPr/>
        </p:nvSpPr>
        <p:spPr>
          <a:xfrm>
            <a:off x="448849" y="829849"/>
            <a:ext cx="490602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Choose </a:t>
            </a:r>
            <a:r>
              <a:rPr lang="en-US" b="1">
                <a:ea typeface="+mn-lt"/>
                <a:cs typeface="+mn-lt"/>
              </a:rPr>
              <a:t>Interface</a:t>
            </a:r>
            <a:r>
              <a:rPr lang="en-US">
                <a:ea typeface="+mn-lt"/>
                <a:cs typeface="+mn-lt"/>
              </a:rPr>
              <a:t> when: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Multiple inheritance needed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 shared code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Loose coupling required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Plugin-based architecture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Common in </a:t>
            </a:r>
            <a:r>
              <a:rPr lang="en-US" b="1">
                <a:ea typeface="+mn-lt"/>
                <a:cs typeface="+mn-lt"/>
              </a:rPr>
              <a:t>ASP.NET Core DI</a:t>
            </a:r>
            <a:endParaRPr lang="en-US"/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>
              <a:buFontTx/>
              <a:buNone/>
            </a:pPr>
            <a:endParaRPr lang="en-US" dirty="0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E5CA1-6530-67EE-5AFD-1A521A058885}"/>
              </a:ext>
            </a:extLst>
          </p:cNvPr>
          <p:cNvSpPr txBox="1"/>
          <p:nvPr/>
        </p:nvSpPr>
        <p:spPr>
          <a:xfrm>
            <a:off x="678203" y="10433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When to Choose Interface Over Abstract Class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BAB6BF2-F2E0-0E62-4548-1A3AA9B17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314" y="827500"/>
            <a:ext cx="5162550" cy="2781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73AA59-85D4-7000-E1C6-5919F5827DB7}"/>
              </a:ext>
            </a:extLst>
          </p:cNvPr>
          <p:cNvSpPr txBox="1"/>
          <p:nvPr/>
        </p:nvSpPr>
        <p:spPr>
          <a:xfrm>
            <a:off x="6886365" y="247804"/>
            <a:ext cx="4616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Interface vs Abstract (Code View)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D1BCA0-C9DA-68DD-DA8C-95EF5A477BAD}"/>
              </a:ext>
            </a:extLst>
          </p:cNvPr>
          <p:cNvSpPr txBox="1"/>
          <p:nvPr/>
        </p:nvSpPr>
        <p:spPr>
          <a:xfrm>
            <a:off x="560821" y="3351885"/>
            <a:ext cx="49821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When to Choose Abstract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16105-E5F8-DEE3-96D9-FEEFFF79786D}"/>
              </a:ext>
            </a:extLst>
          </p:cNvPr>
          <p:cNvSpPr txBox="1"/>
          <p:nvPr/>
        </p:nvSpPr>
        <p:spPr>
          <a:xfrm>
            <a:off x="563671" y="3846534"/>
            <a:ext cx="417534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Choose </a:t>
            </a:r>
            <a:r>
              <a:rPr lang="en-US" b="1"/>
              <a:t>Abstract Class</a:t>
            </a:r>
            <a:r>
              <a:rPr lang="en-US"/>
              <a:t> when: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Shared base logic exists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Controlled inheritance hierarchy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Common fields required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01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6EBD0-2C58-42EB-25BF-01F12DD5C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693BC-FD2F-870E-E1E4-27254A14CF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7E43BF-5038-B248-F328-C69FD79635A2}"/>
              </a:ext>
            </a:extLst>
          </p:cNvPr>
          <p:cNvSpPr txBox="1"/>
          <p:nvPr/>
        </p:nvSpPr>
        <p:spPr>
          <a:xfrm>
            <a:off x="678203" y="10433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Can a Class Implement Multiple Interfaces?</a:t>
            </a:r>
            <a:endParaRPr lang="en-US" b="1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546AF20-0A55-A461-C3E7-CDBE6012F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314" y="827500"/>
            <a:ext cx="5162550" cy="2781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6A242F-9358-1C30-2EC5-71E21740A424}"/>
              </a:ext>
            </a:extLst>
          </p:cNvPr>
          <p:cNvSpPr txBox="1"/>
          <p:nvPr/>
        </p:nvSpPr>
        <p:spPr>
          <a:xfrm>
            <a:off x="6886365" y="247804"/>
            <a:ext cx="46169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Interface vs Abstract (Code View)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07E3444-C201-DBD3-23EF-4E2B84E17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44" y="823913"/>
            <a:ext cx="53149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813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4E915-D329-0D5A-65CA-BC54CCBC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93565-BA0B-270E-482A-BA42B98C4B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03D93B-C3FB-6EAD-CF5B-61E446FA44DA}"/>
              </a:ext>
            </a:extLst>
          </p:cNvPr>
          <p:cNvSpPr txBox="1"/>
          <p:nvPr/>
        </p:nvSpPr>
        <p:spPr>
          <a:xfrm>
            <a:off x="678203" y="22959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OOPs Whiteboard Summary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F9D964-CD7A-699C-AED3-AF6767BD5140}"/>
              </a:ext>
            </a:extLst>
          </p:cNvPr>
          <p:cNvSpPr txBox="1"/>
          <p:nvPr/>
        </p:nvSpPr>
        <p:spPr>
          <a:xfrm>
            <a:off x="814192" y="1132562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Encapsulation → Protect data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Inheritance → Reuse behavior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Polymorphism → Runtime behavior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Abstraction → Reduce complexity</a:t>
            </a:r>
          </a:p>
          <a:p>
            <a:pPr lvl="1">
              <a:buFont typeface=""/>
              <a:buNone/>
            </a:pPr>
            <a:r>
              <a:rPr lang="en-US" i="1"/>
              <a:t>Good design uses all four together.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680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8463-BAE6-F310-DF51-42F56C0B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2196C-23C0-6410-9675-F7527DC2EA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272429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r>
              <a:rPr lang="en-US"/>
              <a:t>1️⃣ Thread</a:t>
            </a:r>
          </a:p>
          <a:p>
            <a:pPr marL="347345" indent="-347345"/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Thread</a:t>
            </a:r>
            <a:r>
              <a:rPr lang="en-US" dirty="0">
                <a:ea typeface="+mn-lt"/>
                <a:cs typeface="+mn-lt"/>
              </a:rPr>
              <a:t> represents an </a:t>
            </a:r>
            <a:r>
              <a:rPr lang="en-US" b="1" dirty="0">
                <a:ea typeface="+mn-lt"/>
                <a:cs typeface="+mn-lt"/>
              </a:rPr>
              <a:t>actual OS-level thread</a:t>
            </a:r>
            <a:r>
              <a:rPr lang="en-US" dirty="0">
                <a:ea typeface="+mn-lt"/>
                <a:cs typeface="+mn-lt"/>
              </a:rPr>
              <a:t> that executes code.</a:t>
            </a:r>
            <a:endParaRPr lang="en-US" dirty="0"/>
          </a:p>
          <a:p>
            <a:pPr marL="347345" indent="-347345"/>
            <a:r>
              <a:rPr lang="en-US">
                <a:ea typeface="+mn-lt"/>
                <a:cs typeface="+mn-lt"/>
              </a:rPr>
              <a:t>It is </a:t>
            </a:r>
            <a:r>
              <a:rPr lang="en-US" b="1">
                <a:ea typeface="+mn-lt"/>
                <a:cs typeface="+mn-lt"/>
              </a:rPr>
              <a:t>low-level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You </a:t>
            </a:r>
            <a:r>
              <a:rPr lang="en-US" b="1">
                <a:ea typeface="+mn-lt"/>
                <a:cs typeface="+mn-lt"/>
              </a:rPr>
              <a:t>manually manage</a:t>
            </a:r>
            <a:r>
              <a:rPr lang="en-US">
                <a:ea typeface="+mn-lt"/>
                <a:cs typeface="+mn-lt"/>
              </a:rPr>
              <a:t> the thread (start, stop, etc.).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Creating many threads can be </a:t>
            </a:r>
            <a:r>
              <a:rPr lang="en-US" b="1">
                <a:ea typeface="+mn-lt"/>
                <a:cs typeface="+mn-lt"/>
              </a:rPr>
              <a:t>expensive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in terms of memory and performance.</a:t>
            </a:r>
            <a:endParaRPr lang="en-US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A8D3A-9739-C516-7032-54CB49DBBD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970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BAABA-374F-518B-EA37-406731E902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315540"/>
            <a:ext cx="4750539" cy="5701212"/>
          </a:xfrm>
        </p:spPr>
        <p:txBody>
          <a:bodyPr vert="horz" lIns="0" tIns="0" rIns="0" bIns="0" rtlCol="0" anchor="t">
            <a:normAutofit fontScale="47500" lnSpcReduction="20000"/>
          </a:bodyPr>
          <a:lstStyle/>
          <a:p>
            <a:pPr marL="347345" indent="-347345"/>
            <a:r>
              <a:rPr lang="en-US">
                <a:ea typeface="+mn-lt"/>
                <a:cs typeface="+mn-lt"/>
              </a:rPr>
              <a:t>using System;</a:t>
            </a:r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using </a:t>
            </a:r>
            <a:r>
              <a:rPr lang="en-US" dirty="0" err="1">
                <a:ea typeface="+mn-lt"/>
                <a:cs typeface="+mn-lt"/>
              </a:rPr>
              <a:t>System.Threading</a:t>
            </a:r>
            <a:r>
              <a:rPr lang="en-US" dirty="0">
                <a:ea typeface="+mn-lt"/>
                <a:cs typeface="+mn-lt"/>
              </a:rPr>
              <a:t>;</a:t>
            </a:r>
            <a:endParaRPr lang="en-US" dirty="0"/>
          </a:p>
          <a:p>
            <a:pPr marL="347345" indent="-347345"/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class Program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{</a:t>
            </a:r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 static void </a:t>
            </a:r>
            <a:r>
              <a:rPr lang="en-US" dirty="0" err="1">
                <a:ea typeface="+mn-lt"/>
                <a:cs typeface="+mn-lt"/>
              </a:rPr>
              <a:t>PrintNumbers</a:t>
            </a:r>
            <a:r>
              <a:rPr lang="en-US" dirty="0">
                <a:ea typeface="+mn-lt"/>
                <a:cs typeface="+mn-lt"/>
              </a:rPr>
              <a:t>()</a:t>
            </a:r>
            <a:endParaRPr lang="en-US" dirty="0"/>
          </a:p>
          <a:p>
            <a:pPr marL="347345" indent="-347345"/>
            <a:r>
              <a:rPr lang="en-US">
                <a:ea typeface="+mn-lt"/>
                <a:cs typeface="+mn-lt"/>
              </a:rPr>
              <a:t>    {</a:t>
            </a:r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     for (int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= 1;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&lt;= 5;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++)</a:t>
            </a:r>
            <a:endParaRPr lang="en-US" dirty="0"/>
          </a:p>
          <a:p>
            <a:pPr marL="347345" indent="-347345"/>
            <a:r>
              <a:rPr lang="en-US">
                <a:ea typeface="+mn-lt"/>
                <a:cs typeface="+mn-lt"/>
              </a:rPr>
              <a:t>        {</a:t>
            </a:r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         </a:t>
            </a:r>
            <a:r>
              <a:rPr lang="en-US" dirty="0" err="1">
                <a:ea typeface="+mn-lt"/>
                <a:cs typeface="+mn-lt"/>
              </a:rPr>
              <a:t>Console.WriteLine</a:t>
            </a:r>
            <a:r>
              <a:rPr lang="en-US" dirty="0">
                <a:ea typeface="+mn-lt"/>
                <a:cs typeface="+mn-lt"/>
              </a:rPr>
              <a:t>("Thread: " +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);</a:t>
            </a:r>
            <a:endParaRPr lang="en-US" dirty="0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         </a:t>
            </a:r>
            <a:r>
              <a:rPr lang="en-US" dirty="0" err="1">
                <a:ea typeface="+mn-lt"/>
                <a:cs typeface="+mn-lt"/>
              </a:rPr>
              <a:t>Thread.Sleep</a:t>
            </a:r>
            <a:r>
              <a:rPr lang="en-US" dirty="0">
                <a:ea typeface="+mn-lt"/>
                <a:cs typeface="+mn-lt"/>
              </a:rPr>
              <a:t>(500);</a:t>
            </a:r>
            <a:endParaRPr lang="en-US" dirty="0"/>
          </a:p>
          <a:p>
            <a:pPr marL="347345" indent="-347345"/>
            <a:r>
              <a:rPr lang="en-US">
                <a:ea typeface="+mn-lt"/>
                <a:cs typeface="+mn-lt"/>
              </a:rPr>
              <a:t>        }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    }</a:t>
            </a:r>
            <a:endParaRPr lang="en-US"/>
          </a:p>
          <a:p>
            <a:pPr marL="347345" indent="-347345"/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    static void Main()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    {</a:t>
            </a:r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     Thread </a:t>
            </a:r>
            <a:r>
              <a:rPr lang="en-US" dirty="0" err="1">
                <a:ea typeface="+mn-lt"/>
                <a:cs typeface="+mn-lt"/>
              </a:rPr>
              <a:t>thread</a:t>
            </a:r>
            <a:r>
              <a:rPr lang="en-US" dirty="0">
                <a:ea typeface="+mn-lt"/>
                <a:cs typeface="+mn-lt"/>
              </a:rPr>
              <a:t> = new Thread(</a:t>
            </a:r>
            <a:r>
              <a:rPr lang="en-US" dirty="0" err="1">
                <a:ea typeface="+mn-lt"/>
                <a:cs typeface="+mn-lt"/>
              </a:rPr>
              <a:t>PrintNumbers</a:t>
            </a:r>
            <a:r>
              <a:rPr lang="en-US" dirty="0">
                <a:ea typeface="+mn-lt"/>
                <a:cs typeface="+mn-lt"/>
              </a:rPr>
              <a:t>);</a:t>
            </a:r>
            <a:endParaRPr lang="en-US" dirty="0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     </a:t>
            </a:r>
            <a:r>
              <a:rPr lang="en-US" dirty="0" err="1">
                <a:ea typeface="+mn-lt"/>
                <a:cs typeface="+mn-lt"/>
              </a:rPr>
              <a:t>thread.Start</a:t>
            </a:r>
            <a:r>
              <a:rPr lang="en-US" dirty="0">
                <a:ea typeface="+mn-lt"/>
                <a:cs typeface="+mn-lt"/>
              </a:rPr>
              <a:t>();</a:t>
            </a:r>
            <a:endParaRPr lang="en-US" dirty="0"/>
          </a:p>
          <a:p>
            <a:pPr marL="347345" indent="-347345"/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     </a:t>
            </a:r>
            <a:r>
              <a:rPr lang="en-US" dirty="0" err="1">
                <a:ea typeface="+mn-lt"/>
                <a:cs typeface="+mn-lt"/>
              </a:rPr>
              <a:t>Console.WriteLine</a:t>
            </a:r>
            <a:r>
              <a:rPr lang="en-US" dirty="0">
                <a:ea typeface="+mn-lt"/>
                <a:cs typeface="+mn-lt"/>
              </a:rPr>
              <a:t>("Main method finished");</a:t>
            </a:r>
            <a:endParaRPr lang="en-US" dirty="0"/>
          </a:p>
          <a:p>
            <a:pPr marL="347345" indent="-347345"/>
            <a:r>
              <a:rPr lang="en-US">
                <a:ea typeface="+mn-lt"/>
                <a:cs typeface="+mn-lt"/>
              </a:rPr>
              <a:t>    }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}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C1486-CD1D-7B94-4967-88154D4035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E4639-C8C7-9BCF-73FF-56724E931089}"/>
              </a:ext>
            </a:extLst>
          </p:cNvPr>
          <p:cNvSpPr txBox="1"/>
          <p:nvPr/>
        </p:nvSpPr>
        <p:spPr>
          <a:xfrm>
            <a:off x="6586603" y="1299575"/>
            <a:ext cx="475989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A new OS thread is created.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PrintNumbers runs on that thread.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The main thread continues execution.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163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A8EF-EF84-0D33-78C2-D509B726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C0FE2-DDD5-C76B-7860-0483EF8640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376812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r>
              <a:rPr lang="en-US"/>
              <a:t>2️⃣ Task</a:t>
            </a:r>
          </a:p>
          <a:p>
            <a:pPr marL="347345" indent="-347345"/>
            <a:r>
              <a:rPr lang="en-US">
                <a:ea typeface="+mn-lt"/>
                <a:cs typeface="+mn-lt"/>
              </a:rPr>
              <a:t>A </a:t>
            </a:r>
            <a:r>
              <a:rPr lang="en-US" b="1">
                <a:ea typeface="+mn-lt"/>
                <a:cs typeface="+mn-lt"/>
              </a:rPr>
              <a:t>Task</a:t>
            </a:r>
            <a:r>
              <a:rPr lang="en-US">
                <a:ea typeface="+mn-lt"/>
                <a:cs typeface="+mn-lt"/>
              </a:rPr>
              <a:t> is a </a:t>
            </a:r>
            <a:r>
              <a:rPr lang="en-US" b="1">
                <a:ea typeface="+mn-lt"/>
                <a:cs typeface="+mn-lt"/>
              </a:rPr>
              <a:t>higher-level abstraction</a:t>
            </a:r>
            <a:r>
              <a:rPr lang="en-US">
                <a:ea typeface="+mn-lt"/>
                <a:cs typeface="+mn-lt"/>
              </a:rPr>
              <a:t> for asynchronous work.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Part of </a:t>
            </a:r>
            <a:r>
              <a:rPr lang="en-US" b="1">
                <a:ea typeface="+mn-lt"/>
                <a:cs typeface="+mn-lt"/>
              </a:rPr>
              <a:t>Task Parallel Library (TPL)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Uses </a:t>
            </a:r>
            <a:r>
              <a:rPr lang="en-US" b="1" dirty="0" err="1">
                <a:ea typeface="+mn-lt"/>
                <a:cs typeface="+mn-lt"/>
              </a:rPr>
              <a:t>ThreadPool</a:t>
            </a:r>
            <a:r>
              <a:rPr lang="en-US" b="1" dirty="0">
                <a:ea typeface="+mn-lt"/>
                <a:cs typeface="+mn-lt"/>
              </a:rPr>
              <a:t> internally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347345" indent="-347345"/>
            <a:r>
              <a:rPr lang="en-US">
                <a:ea typeface="+mn-lt"/>
                <a:cs typeface="+mn-lt"/>
              </a:rPr>
              <a:t>More </a:t>
            </a:r>
            <a:r>
              <a:rPr lang="en-US" b="1">
                <a:ea typeface="+mn-lt"/>
                <a:cs typeface="+mn-lt"/>
              </a:rPr>
              <a:t>efficient and easier to manage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Supports </a:t>
            </a:r>
            <a:r>
              <a:rPr lang="en-US" b="1">
                <a:ea typeface="+mn-lt"/>
                <a:cs typeface="+mn-lt"/>
              </a:rPr>
              <a:t>async/await</a:t>
            </a:r>
            <a:r>
              <a:rPr lang="en-US">
                <a:ea typeface="+mn-lt"/>
                <a:cs typeface="+mn-lt"/>
              </a:rPr>
              <a:t>, continuations, cancellation, etc.</a:t>
            </a:r>
            <a:endParaRPr lang="en-US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60E8E-37BB-A202-F9FE-48DA33915B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5931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0210D-2ABA-CF12-67EF-F81462C5F0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3796" y="357293"/>
            <a:ext cx="5773498" cy="6035240"/>
          </a:xfrm>
        </p:spPr>
        <p:txBody>
          <a:bodyPr vert="horz" lIns="0" tIns="0" rIns="0" bIns="0" rtlCol="0" anchor="t">
            <a:normAutofit fontScale="55000" lnSpcReduction="20000"/>
          </a:bodyPr>
          <a:lstStyle/>
          <a:p>
            <a:pPr marL="347345" indent="-347345"/>
            <a:r>
              <a:rPr lang="en-US">
                <a:ea typeface="+mn-lt"/>
                <a:cs typeface="+mn-lt"/>
              </a:rPr>
              <a:t>using System;</a:t>
            </a:r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using </a:t>
            </a:r>
            <a:r>
              <a:rPr lang="en-US" dirty="0" err="1">
                <a:ea typeface="+mn-lt"/>
                <a:cs typeface="+mn-lt"/>
              </a:rPr>
              <a:t>System.Threading.Tasks</a:t>
            </a:r>
            <a:r>
              <a:rPr lang="en-US" dirty="0">
                <a:ea typeface="+mn-lt"/>
                <a:cs typeface="+mn-lt"/>
              </a:rPr>
              <a:t>;</a:t>
            </a:r>
            <a:endParaRPr lang="en-US" dirty="0"/>
          </a:p>
          <a:p>
            <a:pPr marL="347345" indent="-347345"/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class Program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{</a:t>
            </a:r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 static void </a:t>
            </a:r>
            <a:r>
              <a:rPr lang="en-US" dirty="0" err="1">
                <a:ea typeface="+mn-lt"/>
                <a:cs typeface="+mn-lt"/>
              </a:rPr>
              <a:t>PrintNumbers</a:t>
            </a:r>
            <a:r>
              <a:rPr lang="en-US" dirty="0">
                <a:ea typeface="+mn-lt"/>
                <a:cs typeface="+mn-lt"/>
              </a:rPr>
              <a:t>()</a:t>
            </a:r>
            <a:endParaRPr lang="en-US" dirty="0"/>
          </a:p>
          <a:p>
            <a:pPr marL="347345" indent="-347345"/>
            <a:r>
              <a:rPr lang="en-US">
                <a:ea typeface="+mn-lt"/>
                <a:cs typeface="+mn-lt"/>
              </a:rPr>
              <a:t>    {</a:t>
            </a:r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     for (int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= 1;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&lt;= 5;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++)</a:t>
            </a:r>
            <a:endParaRPr lang="en-US" dirty="0"/>
          </a:p>
          <a:p>
            <a:pPr marL="347345" indent="-347345"/>
            <a:r>
              <a:rPr lang="en-US">
                <a:ea typeface="+mn-lt"/>
                <a:cs typeface="+mn-lt"/>
              </a:rPr>
              <a:t>        {</a:t>
            </a:r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         </a:t>
            </a:r>
            <a:r>
              <a:rPr lang="en-US" dirty="0" err="1">
                <a:ea typeface="+mn-lt"/>
                <a:cs typeface="+mn-lt"/>
              </a:rPr>
              <a:t>Console.WriteLine</a:t>
            </a:r>
            <a:r>
              <a:rPr lang="en-US" dirty="0">
                <a:ea typeface="+mn-lt"/>
                <a:cs typeface="+mn-lt"/>
              </a:rPr>
              <a:t>("Task: " +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);</a:t>
            </a:r>
            <a:endParaRPr lang="en-US" dirty="0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         </a:t>
            </a:r>
            <a:r>
              <a:rPr lang="en-US" dirty="0" err="1">
                <a:ea typeface="+mn-lt"/>
                <a:cs typeface="+mn-lt"/>
              </a:rPr>
              <a:t>Task.Delay</a:t>
            </a:r>
            <a:r>
              <a:rPr lang="en-US" dirty="0">
                <a:ea typeface="+mn-lt"/>
                <a:cs typeface="+mn-lt"/>
              </a:rPr>
              <a:t>(500).Wait();</a:t>
            </a:r>
            <a:endParaRPr lang="en-US" dirty="0"/>
          </a:p>
          <a:p>
            <a:pPr marL="347345" indent="-347345"/>
            <a:r>
              <a:rPr lang="en-US">
                <a:ea typeface="+mn-lt"/>
                <a:cs typeface="+mn-lt"/>
              </a:rPr>
              <a:t>        }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    }</a:t>
            </a:r>
            <a:endParaRPr lang="en-US"/>
          </a:p>
          <a:p>
            <a:pPr marL="347345" indent="-347345"/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    static void Main()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    {</a:t>
            </a:r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     Task </a:t>
            </a:r>
            <a:r>
              <a:rPr lang="en-US" dirty="0" err="1">
                <a:ea typeface="+mn-lt"/>
                <a:cs typeface="+mn-lt"/>
              </a:rPr>
              <a:t>task</a:t>
            </a:r>
            <a:r>
              <a:rPr lang="en-US" dirty="0">
                <a:ea typeface="+mn-lt"/>
                <a:cs typeface="+mn-lt"/>
              </a:rPr>
              <a:t> = </a:t>
            </a:r>
            <a:r>
              <a:rPr lang="en-US" dirty="0" err="1">
                <a:ea typeface="+mn-lt"/>
                <a:cs typeface="+mn-lt"/>
              </a:rPr>
              <a:t>Task.Run</a:t>
            </a:r>
            <a:r>
              <a:rPr lang="en-US" dirty="0">
                <a:ea typeface="+mn-lt"/>
                <a:cs typeface="+mn-lt"/>
              </a:rPr>
              <a:t>(() =&gt; </a:t>
            </a:r>
            <a:r>
              <a:rPr lang="en-US" dirty="0" err="1">
                <a:ea typeface="+mn-lt"/>
                <a:cs typeface="+mn-lt"/>
              </a:rPr>
              <a:t>PrintNumbers</a:t>
            </a:r>
            <a:r>
              <a:rPr lang="en-US" dirty="0">
                <a:ea typeface="+mn-lt"/>
                <a:cs typeface="+mn-lt"/>
              </a:rPr>
              <a:t>());</a:t>
            </a:r>
            <a:endParaRPr lang="en-US" dirty="0"/>
          </a:p>
          <a:p>
            <a:pPr marL="347345" indent="-347345"/>
            <a:endParaRPr lang="en-US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     </a:t>
            </a:r>
            <a:r>
              <a:rPr lang="en-US" dirty="0" err="1">
                <a:ea typeface="+mn-lt"/>
                <a:cs typeface="+mn-lt"/>
              </a:rPr>
              <a:t>Console.WriteLine</a:t>
            </a:r>
            <a:r>
              <a:rPr lang="en-US" dirty="0">
                <a:ea typeface="+mn-lt"/>
                <a:cs typeface="+mn-lt"/>
              </a:rPr>
              <a:t>("Main method finished");</a:t>
            </a:r>
            <a:endParaRPr lang="en-US" dirty="0"/>
          </a:p>
          <a:p>
            <a:pPr marL="347345" indent="-347345"/>
            <a:r>
              <a:rPr lang="en-US" dirty="0">
                <a:ea typeface="+mn-lt"/>
                <a:cs typeface="+mn-lt"/>
              </a:rPr>
              <a:t>        </a:t>
            </a:r>
            <a:r>
              <a:rPr lang="en-US" dirty="0" err="1">
                <a:ea typeface="+mn-lt"/>
                <a:cs typeface="+mn-lt"/>
              </a:rPr>
              <a:t>task.Wait</a:t>
            </a:r>
            <a:r>
              <a:rPr lang="en-US" dirty="0">
                <a:ea typeface="+mn-lt"/>
                <a:cs typeface="+mn-lt"/>
              </a:rPr>
              <a:t>();</a:t>
            </a:r>
            <a:endParaRPr lang="en-US" dirty="0"/>
          </a:p>
          <a:p>
            <a:pPr marL="347345" indent="-347345"/>
            <a:r>
              <a:rPr lang="en-US">
                <a:ea typeface="+mn-lt"/>
                <a:cs typeface="+mn-lt"/>
              </a:rPr>
              <a:t>    }</a:t>
            </a:r>
            <a:endParaRPr lang="en-US"/>
          </a:p>
          <a:p>
            <a:pPr marL="347345" indent="-347345"/>
            <a:r>
              <a:rPr lang="en-US">
                <a:ea typeface="+mn-lt"/>
                <a:cs typeface="+mn-lt"/>
              </a:rPr>
              <a:t>}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C1295-E33A-5C52-FE65-355A230055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C32DE-74D0-6A8B-A776-44288040C8E8}"/>
              </a:ext>
            </a:extLst>
          </p:cNvPr>
          <p:cNvSpPr txBox="1"/>
          <p:nvPr/>
        </p:nvSpPr>
        <p:spPr>
          <a:xfrm>
            <a:off x="5668027" y="2489548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What happens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Task.Run() schedules the work on a </a:t>
            </a:r>
            <a:r>
              <a:rPr lang="en-US" b="1"/>
              <a:t>ThreadPool thread</a:t>
            </a:r>
            <a:r>
              <a:rPr lang="en-US"/>
              <a:t>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No need to manually create or manage threads.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176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054B-0E55-33E8-BA89-7C300A39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7A5B-8837-891A-7FE6-374588CC3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🟦 Day 4 – .NET &amp; C# Fundamentals (Must-Answer Questions)</a:t>
            </a:r>
            <a:endParaRPr lang="en-US" dirty="0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599254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0223B-8273-2160-4B3A-D89BAF8CE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1E860-BB15-4F26-A0D3-5ACB831CA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AC2FE2-932D-C121-8DC6-7557B9DAB2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C1AB1-7CF3-586B-414F-0C84253AEA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D791B6-CC91-1AD7-9B9C-DD2E00B6B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612778"/>
              </p:ext>
            </p:extLst>
          </p:nvPr>
        </p:nvGraphicFramePr>
        <p:xfrm>
          <a:off x="3382027" y="511479"/>
          <a:ext cx="7292409" cy="605574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605574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Day 4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SOLID &amp; Design Thinking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What are SOLID principles?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Which SOLID principle have you actually used?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Open–Closed principle with real example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Dependency Inversion explained simply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Common design mistakes in real projects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351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3E677-28F0-C255-2CEC-3BADD8804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A9956-49B1-B032-E4ED-EF119B93FE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3A5712-325C-DBC5-7AB7-A5AFA391492B}"/>
              </a:ext>
            </a:extLst>
          </p:cNvPr>
          <p:cNvSpPr txBox="1"/>
          <p:nvPr/>
        </p:nvSpPr>
        <p:spPr>
          <a:xfrm>
            <a:off x="678203" y="229598"/>
            <a:ext cx="4890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What are SOLID principles?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807A9D-10B8-91F3-30A4-A853E9943EFE}"/>
              </a:ext>
            </a:extLst>
          </p:cNvPr>
          <p:cNvSpPr txBox="1"/>
          <p:nvPr/>
        </p:nvSpPr>
        <p:spPr>
          <a:xfrm>
            <a:off x="866384" y="756781"/>
            <a:ext cx="6096000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SOLID is a set of </a:t>
            </a:r>
            <a:r>
              <a:rPr lang="en-US" b="1" dirty="0">
                <a:ea typeface="+mn-lt"/>
                <a:cs typeface="+mn-lt"/>
              </a:rPr>
              <a:t>design principles</a:t>
            </a:r>
            <a:r>
              <a:rPr lang="en-US" dirty="0">
                <a:ea typeface="+mn-lt"/>
                <a:cs typeface="+mn-lt"/>
              </a:rPr>
              <a:t> that help you: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Write maintainable code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Reduce coupling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Increase flexibility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Handle change safely</a:t>
            </a:r>
            <a:endParaRPr lang="en-US" dirty="0"/>
          </a:p>
          <a:p>
            <a:pPr lvl="1"/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SOLID stands for</a:t>
            </a:r>
          </a:p>
          <a:p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</a:t>
            </a:r>
            <a:r>
              <a:rPr lang="en-US" dirty="0">
                <a:ea typeface="+mn-lt"/>
                <a:cs typeface="+mn-lt"/>
              </a:rPr>
              <a:t> – Single Responsibility Principle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O</a:t>
            </a:r>
            <a:r>
              <a:rPr lang="en-US" dirty="0">
                <a:ea typeface="+mn-lt"/>
                <a:cs typeface="+mn-lt"/>
              </a:rPr>
              <a:t> – Open–Closed Principle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L</a:t>
            </a:r>
            <a:r>
              <a:rPr lang="en-US" dirty="0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Liskov</a:t>
            </a:r>
            <a:r>
              <a:rPr lang="en-US" dirty="0">
                <a:ea typeface="+mn-lt"/>
                <a:cs typeface="+mn-lt"/>
              </a:rPr>
              <a:t> Substitution Principle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– Interface Segregation Principle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</a:t>
            </a:r>
            <a:r>
              <a:rPr lang="en-US" dirty="0">
                <a:ea typeface="+mn-lt"/>
                <a:cs typeface="+mn-lt"/>
              </a:rPr>
              <a:t> – Dependency Inversion Principle</a:t>
            </a:r>
            <a:endParaRPr lang="en-US" dirty="0"/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05DBF-1D4B-6A8C-3C3E-94FED724CCA0}"/>
              </a:ext>
            </a:extLst>
          </p:cNvPr>
          <p:cNvSpPr txBox="1"/>
          <p:nvPr/>
        </p:nvSpPr>
        <p:spPr>
          <a:xfrm>
            <a:off x="7525441" y="247805"/>
            <a:ext cx="34823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/>
              <a:t>What Is SOLID?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9B8A7EE-9819-4D35-83BE-B63DC1EFB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646" y="1225658"/>
            <a:ext cx="7705204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954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872C3-0CC9-E9C3-0784-29890B43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502A3-F7B1-937A-1F59-B19ABE5223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AFB01-A56B-7EFD-CD8A-CF71DE6CA18C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Which SOLID Principles Have You Actually Used?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A8285B-7866-0678-A028-538E373EC14C}"/>
              </a:ext>
            </a:extLst>
          </p:cNvPr>
          <p:cNvSpPr txBox="1"/>
          <p:nvPr/>
        </p:nvSpPr>
        <p:spPr>
          <a:xfrm>
            <a:off x="866384" y="756781"/>
            <a:ext cx="609600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Honest &amp; Strong Answer</a:t>
            </a:r>
            <a:endParaRPr lang="en-US" b="1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Single Responsibility → </a:t>
            </a:r>
            <a:r>
              <a:rPr lang="en-US" b="1" dirty="0">
                <a:ea typeface="+mn-lt"/>
                <a:cs typeface="+mn-lt"/>
              </a:rPr>
              <a:t>Very frequently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Open–Closed → </a:t>
            </a:r>
            <a:r>
              <a:rPr lang="en-US" b="1" dirty="0">
                <a:ea typeface="+mn-lt"/>
                <a:cs typeface="+mn-lt"/>
              </a:rPr>
              <a:t>Frequently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Dependency Inversion → </a:t>
            </a:r>
            <a:r>
              <a:rPr lang="en-US" b="1" dirty="0">
                <a:ea typeface="+mn-lt"/>
                <a:cs typeface="+mn-lt"/>
              </a:rPr>
              <a:t>Almost everywhere (DI)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Interface Segregation → </a:t>
            </a:r>
            <a:r>
              <a:rPr lang="en-US" b="1" dirty="0">
                <a:ea typeface="+mn-lt"/>
                <a:cs typeface="+mn-lt"/>
              </a:rPr>
              <a:t>While designing APIs</a:t>
            </a:r>
            <a:endParaRPr lang="en-US"/>
          </a:p>
          <a:p>
            <a:pPr marL="742950" lvl="1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Liskov</a:t>
            </a:r>
            <a:r>
              <a:rPr lang="en-US" dirty="0">
                <a:ea typeface="+mn-lt"/>
                <a:cs typeface="+mn-lt"/>
              </a:rPr>
              <a:t> Substitution → </a:t>
            </a:r>
            <a:r>
              <a:rPr lang="en-US" b="1" dirty="0">
                <a:ea typeface="+mn-lt"/>
                <a:cs typeface="+mn-lt"/>
              </a:rPr>
              <a:t>Implicitly via polymorphism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Interviewers like </a:t>
            </a:r>
            <a:r>
              <a:rPr lang="en-US" b="1" dirty="0">
                <a:ea typeface="+mn-lt"/>
                <a:cs typeface="+mn-lt"/>
              </a:rPr>
              <a:t>practical honesty</a:t>
            </a:r>
            <a:r>
              <a:rPr lang="en-US" dirty="0">
                <a:ea typeface="+mn-lt"/>
                <a:cs typeface="+mn-lt"/>
              </a:rPr>
              <a:t>, not perfection.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925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7BC1F-81AB-1D3C-1BF0-20B2CDF5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A87AB-6FA1-F33F-38F0-1E18287BDF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BF2E5-C7B1-5CE9-F618-038D1CFE4918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Single Responsibility Principle (SRP)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2A1221-0378-0A4D-5323-034F934B8C0C}"/>
              </a:ext>
            </a:extLst>
          </p:cNvPr>
          <p:cNvSpPr txBox="1"/>
          <p:nvPr/>
        </p:nvSpPr>
        <p:spPr>
          <a:xfrm>
            <a:off x="866384" y="756781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A class should have </a:t>
            </a:r>
            <a:r>
              <a:rPr lang="en-US" b="1" dirty="0">
                <a:ea typeface="+mn-lt"/>
                <a:cs typeface="+mn-lt"/>
              </a:rPr>
              <a:t>only one reason to change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pPr algn="ctr"/>
            <a:endParaRPr lang="en-US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C7E1853-4C3E-70E6-5F16-B02E491D7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02" y="1349745"/>
            <a:ext cx="496252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628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A269E-03EE-FE70-2A55-E5CA2E1F8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F3ECE-3564-2E89-8796-A16835908E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EC481-72A9-CA0D-5D1F-9AD3CF7596DD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Open–Closed Principle (Concept)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DA6DEE-2BF4-2F99-9850-C9B4E62D0495}"/>
              </a:ext>
            </a:extLst>
          </p:cNvPr>
          <p:cNvSpPr txBox="1"/>
          <p:nvPr/>
        </p:nvSpPr>
        <p:spPr>
          <a:xfrm>
            <a:off x="866384" y="756781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Open for </a:t>
            </a:r>
            <a:r>
              <a:rPr lang="en-US" b="1" dirty="0">
                <a:ea typeface="+mn-lt"/>
                <a:cs typeface="+mn-lt"/>
              </a:rPr>
              <a:t>extension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Closed for </a:t>
            </a:r>
            <a:r>
              <a:rPr lang="en-US" b="1" dirty="0">
                <a:ea typeface="+mn-lt"/>
                <a:cs typeface="+mn-lt"/>
              </a:rPr>
              <a:t>modification</a:t>
            </a:r>
            <a:endParaRPr lang="en-US" dirty="0"/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Add new behavior </a:t>
            </a:r>
            <a:r>
              <a:rPr lang="en-US" b="1" dirty="0">
                <a:ea typeface="+mn-lt"/>
                <a:cs typeface="+mn-lt"/>
              </a:rPr>
              <a:t>without changing existing code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pPr algn="ctr"/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E1005FE-4364-6138-4641-7701EEA09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61" y="2363635"/>
            <a:ext cx="4933950" cy="3905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2CC179-A75E-93DA-6D59-BC81416B3776}"/>
              </a:ext>
            </a:extLst>
          </p:cNvPr>
          <p:cNvSpPr txBox="1"/>
          <p:nvPr/>
        </p:nvSpPr>
        <p:spPr>
          <a:xfrm>
            <a:off x="5991616" y="2562617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buFont typeface=""/>
              <a:buNone/>
            </a:pPr>
            <a:r>
              <a:rPr lang="en-US" i="1" dirty="0"/>
              <a:t>“When a new notification type comes, I just add a new class. Existing code remains untouched.”</a:t>
            </a:r>
          </a:p>
          <a:p>
            <a:r>
              <a:rPr lang="en-US" dirty="0"/>
              <a:t>   This shows:</a:t>
            </a:r>
          </a:p>
          <a:p>
            <a:pPr marL="1143000" lvl="2" indent="-228600">
              <a:buFont typeface="Wingdings"/>
              <a:buChar char="§"/>
            </a:pPr>
            <a:r>
              <a:rPr lang="en-US" dirty="0"/>
              <a:t>Low risk</a:t>
            </a:r>
          </a:p>
          <a:p>
            <a:pPr marL="1143000" lvl="2" indent="-228600">
              <a:buFont typeface="Wingdings"/>
              <a:buChar char="§"/>
            </a:pPr>
            <a:r>
              <a:rPr lang="en-US" dirty="0"/>
              <a:t>Fewer bugs</a:t>
            </a:r>
          </a:p>
          <a:p>
            <a:pPr marL="1143000" lvl="2" indent="-228600">
              <a:buFont typeface="Wingdings"/>
              <a:buChar char="§"/>
            </a:pPr>
            <a:r>
              <a:rPr lang="en-US" dirty="0"/>
              <a:t>Better extensibility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569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F68E7-71EA-AB70-241C-4A374B46F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BED4B-7D01-2316-E594-0A9CEBEB49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E2977-FBC5-10E3-D763-82466EC02E50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ea typeface="+mn-lt"/>
                <a:cs typeface="+mn-lt"/>
              </a:rPr>
              <a:t>Liskov</a:t>
            </a:r>
            <a:r>
              <a:rPr lang="en-US" b="1" dirty="0">
                <a:ea typeface="+mn-lt"/>
                <a:cs typeface="+mn-lt"/>
              </a:rPr>
              <a:t> Substitution Principle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D5C6B4-68E2-154B-71B5-4EF2CD570ED7}"/>
              </a:ext>
            </a:extLst>
          </p:cNvPr>
          <p:cNvSpPr txBox="1"/>
          <p:nvPr/>
        </p:nvSpPr>
        <p:spPr>
          <a:xfrm>
            <a:off x="866384" y="756781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Derived classes must be </a:t>
            </a:r>
            <a:r>
              <a:rPr lang="en-US" b="1" dirty="0">
                <a:ea typeface="+mn-lt"/>
                <a:cs typeface="+mn-lt"/>
              </a:rPr>
              <a:t>replaceable</a:t>
            </a:r>
            <a:r>
              <a:rPr lang="en-US" dirty="0">
                <a:ea typeface="+mn-lt"/>
                <a:cs typeface="+mn-lt"/>
              </a:rPr>
              <a:t> for their base class.</a:t>
            </a:r>
          </a:p>
          <a:p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Child should not break parent behavior.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796286-BFEA-F8BC-422A-4767C3827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254" y="2114485"/>
            <a:ext cx="49244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5284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FFC8-BDE9-16EC-2985-25D666CA2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ACE74-19AB-5CE5-4784-7CB2275FA5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19414-F160-4417-8E1D-41AE558FEFA3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Interface Segregation Principle (ISP)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6AEBE7-3388-EAB9-185B-C09A90479EE3}"/>
              </a:ext>
            </a:extLst>
          </p:cNvPr>
          <p:cNvSpPr txBox="1"/>
          <p:nvPr/>
        </p:nvSpPr>
        <p:spPr>
          <a:xfrm>
            <a:off x="866384" y="756781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Clients should not be forced to depend on methods they don’t use.</a:t>
            </a: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algn="ctr"/>
            <a:endParaRPr lang="en-US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E655EAE-E2A6-9ADE-D689-83C7DEB3A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33" y="1609203"/>
            <a:ext cx="540067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385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BFC8E-843E-FCF5-8A56-D45CB9C79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30D0C-973F-BC0F-3388-AC0DE6D148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6B60C-1F5A-B52A-C64C-8C9F3162E4E6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Dependency Inversion Principle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4A499C-52D1-96F4-B772-5E5E0AF05906}"/>
              </a:ext>
            </a:extLst>
          </p:cNvPr>
          <p:cNvSpPr txBox="1"/>
          <p:nvPr/>
        </p:nvSpPr>
        <p:spPr>
          <a:xfrm>
            <a:off x="866384" y="756781"/>
            <a:ext cx="1089764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i="1">
                <a:ea typeface="+mn-lt"/>
                <a:cs typeface="+mn-lt"/>
              </a:rPr>
              <a:t>High-level modules should not depend on low-level modules. Both should depend on abstractions.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 Or simply: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i="1" dirty="0">
                <a:ea typeface="+mn-lt"/>
                <a:cs typeface="+mn-lt"/>
              </a:rPr>
              <a:t>Depend on interfaces, not concrete classes.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algn="ctr"/>
            <a:endParaRPr lang="en-US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F1824FE-C491-ACEC-ACE8-4A7404CA6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97" y="1788678"/>
            <a:ext cx="544830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840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C1D9D-94F8-312C-BB44-E3C4DA3D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C8CBD-F8F6-AACE-88EF-1B80FFB32B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12BF5-B63F-7F04-9869-B3045B252E16}"/>
              </a:ext>
            </a:extLst>
          </p:cNvPr>
          <p:cNvSpPr txBox="1"/>
          <p:nvPr/>
        </p:nvSpPr>
        <p:spPr>
          <a:xfrm>
            <a:off x="678203" y="240036"/>
            <a:ext cx="5423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Why DIP Matters in Real Projects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40A31-9B28-88D1-C4F2-663B48A63244}"/>
              </a:ext>
            </a:extLst>
          </p:cNvPr>
          <p:cNvSpPr txBox="1"/>
          <p:nvPr/>
        </p:nvSpPr>
        <p:spPr>
          <a:xfrm>
            <a:off x="866384" y="756781"/>
            <a:ext cx="1089764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Easy unit testing (mocking)</a:t>
            </a:r>
          </a:p>
          <a:p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Replace implementations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Loose coupling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Core of </a:t>
            </a:r>
            <a:r>
              <a:rPr lang="en-US" b="1" dirty="0">
                <a:ea typeface="+mn-lt"/>
                <a:cs typeface="+mn-lt"/>
              </a:rPr>
              <a:t>ASP.NET Core Dependency Injection</a:t>
            </a:r>
            <a:endParaRPr lang="en-US" dirty="0"/>
          </a:p>
          <a:p>
            <a:pPr>
              <a:buFont typeface="Arial"/>
              <a:buChar char="•"/>
            </a:pPr>
            <a:endParaRPr lang="en-US" i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223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61CCF-F96B-287F-146C-0F62E603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43FEB-EA4B-DC0E-09A4-D30536DDA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441D8-AB61-1F7D-482D-838E400A5364}"/>
              </a:ext>
            </a:extLst>
          </p:cNvPr>
          <p:cNvSpPr txBox="1"/>
          <p:nvPr/>
        </p:nvSpPr>
        <p:spPr>
          <a:xfrm>
            <a:off x="678203" y="240036"/>
            <a:ext cx="54232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Common Design Mistakes in Real Projects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356BD9-61DA-66EF-A465-11E2C8CBCD09}"/>
              </a:ext>
            </a:extLst>
          </p:cNvPr>
          <p:cNvSpPr txBox="1"/>
          <p:nvPr/>
        </p:nvSpPr>
        <p:spPr>
          <a:xfrm>
            <a:off x="866384" y="756781"/>
            <a:ext cx="10897644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❌ God classes ❌ Too many responsibilities ❌ Tight coupling ❌ No interfaces ❌ Overusing inheritance ❌ Copy-paste logic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How SOLID Prevents These Mistakes</a:t>
            </a:r>
            <a:endParaRPr lang="en-US" i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SRP → Smaller classes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OCP → Safer changes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DIP → Loose coupling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ISP → Clean APIs</a:t>
            </a:r>
            <a:endParaRPr lang="en-US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LSP → Reliable polymorphism</a:t>
            </a:r>
            <a:endParaRPr lang="en-US"/>
          </a:p>
          <a:p>
            <a:pPr lvl="1">
              <a:buFont typeface="Courier New"/>
              <a:buChar char="o"/>
            </a:pPr>
            <a:endParaRPr lang="en-US" dirty="0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84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52CB-D198-F4E2-73CD-121B6EABB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DD2B-AFB2-B0C9-DDBA-73A674B98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🟦 Day 5 – .NET &amp; C# Fundamentals (Must-Answer Questions)</a:t>
            </a:r>
            <a:endParaRPr lang="en-US" dirty="0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654451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773A-797A-38A6-CC45-CD33AE841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D071B-67C3-E82A-EE57-503937ED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CD9603-193A-5955-FAC7-B7408605CC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1F89D-3381-F08E-2E16-7F05939F0F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53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FF8D31-3EEE-0194-E162-2EF43503F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60836"/>
              </p:ext>
            </p:extLst>
          </p:nvPr>
        </p:nvGraphicFramePr>
        <p:xfrm>
          <a:off x="3382027" y="511479"/>
          <a:ext cx="7292409" cy="571543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571543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Day 5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C# Advanced &amp; Runtime Behavior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Focus: Questions interviewers ask when they go deeper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 err="1">
                          <a:effectLst/>
                        </a:rPr>
                        <a:t>IEnumerable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 vs </a:t>
                      </a:r>
                      <a:r>
                        <a:rPr lang="en-US" sz="1800" b="0" i="0" u="none" strike="noStrike" noProof="0" dirty="0" err="1">
                          <a:effectLst/>
                        </a:rPr>
                        <a:t>IQueryable</a:t>
                      </a:r>
                      <a:endParaRPr lang="en-US" dirty="0" err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Deferred vs Immediate execution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How does Garbage Collection work?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What is </a:t>
                      </a:r>
                      <a:r>
                        <a:rPr lang="en-US" sz="1800" b="0" i="0" u="none" strike="noStrike" noProof="0" dirty="0" err="1">
                          <a:effectLst/>
                        </a:rPr>
                        <a:t>IDisposable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How do you handle exceptions in real projects?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Difference between throw and throw ex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67883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B04F-4798-B52D-D6EE-B4B645BDB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CBA67-BEFA-6FD1-96E6-C8FE406CFA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4EEEC-EF0A-D1B8-315C-622823CDA3EA}"/>
              </a:ext>
            </a:extLst>
          </p:cNvPr>
          <p:cNvSpPr txBox="1"/>
          <p:nvPr/>
        </p:nvSpPr>
        <p:spPr>
          <a:xfrm>
            <a:off x="678203" y="240036"/>
            <a:ext cx="4128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ea typeface="+mn-lt"/>
                <a:cs typeface="+mn-lt"/>
              </a:rPr>
              <a:t>IEnumerable</a:t>
            </a:r>
            <a:r>
              <a:rPr lang="en-US" b="1" dirty="0">
                <a:ea typeface="+mn-lt"/>
                <a:cs typeface="+mn-lt"/>
              </a:rPr>
              <a:t> vs </a:t>
            </a:r>
            <a:r>
              <a:rPr lang="en-US" b="1" dirty="0" err="1">
                <a:ea typeface="+mn-lt"/>
                <a:cs typeface="+mn-lt"/>
              </a:rPr>
              <a:t>IQueryable</a:t>
            </a:r>
            <a:r>
              <a:rPr lang="en-US" b="1" dirty="0">
                <a:ea typeface="+mn-lt"/>
                <a:cs typeface="+mn-lt"/>
              </a:rPr>
              <a:t> (Concept)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42DBD-43FF-15A9-0CF5-484FD1A2855A}"/>
              </a:ext>
            </a:extLst>
          </p:cNvPr>
          <p:cNvSpPr txBox="1"/>
          <p:nvPr/>
        </p:nvSpPr>
        <p:spPr>
          <a:xfrm>
            <a:off x="803753" y="944671"/>
            <a:ext cx="463463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IEnumerable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Works with </a:t>
            </a:r>
            <a:r>
              <a:rPr lang="en-US" b="1" dirty="0"/>
              <a:t>in-memory collections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Executes query </a:t>
            </a:r>
            <a:r>
              <a:rPr lang="en-US" b="1" dirty="0"/>
              <a:t>in application memory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Suitable for small data sets</a:t>
            </a:r>
          </a:p>
          <a:p>
            <a:endParaRPr lang="en-US" dirty="0"/>
          </a:p>
          <a:p>
            <a:r>
              <a:rPr lang="en-US" b="1" dirty="0" err="1"/>
              <a:t>IQueryable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Works with </a:t>
            </a:r>
            <a:r>
              <a:rPr lang="en-US" b="1" dirty="0"/>
              <a:t>data sources</a:t>
            </a:r>
            <a:r>
              <a:rPr lang="en-US" dirty="0"/>
              <a:t> (DB)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Executes query at </a:t>
            </a:r>
            <a:r>
              <a:rPr lang="en-US" b="1" dirty="0"/>
              <a:t>data source level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Suitable for large data sets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990CE9-7328-59DA-DF86-C5B80031AA8A}"/>
              </a:ext>
            </a:extLst>
          </p:cNvPr>
          <p:cNvSpPr txBox="1"/>
          <p:nvPr/>
        </p:nvSpPr>
        <p:spPr>
          <a:xfrm>
            <a:off x="6106092" y="242552"/>
            <a:ext cx="5243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 err="1"/>
              <a:t>IEnumerable</a:t>
            </a:r>
            <a:r>
              <a:rPr lang="en-US" b="1" dirty="0"/>
              <a:t> vs </a:t>
            </a:r>
            <a:r>
              <a:rPr lang="en-US" b="1" dirty="0" err="1"/>
              <a:t>IQueryable</a:t>
            </a:r>
            <a:r>
              <a:rPr lang="en-US" b="1" dirty="0"/>
              <a:t> (Real Example)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F00C79-5665-91AE-30C0-88FF5553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884" y="945650"/>
            <a:ext cx="506730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2982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D5768-5508-216D-5C5E-801137DB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3F24A-C0B9-C598-19E2-8E975BADAC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E1FF6-2E1F-8651-179C-39A7502D83C9}"/>
              </a:ext>
            </a:extLst>
          </p:cNvPr>
          <p:cNvSpPr txBox="1"/>
          <p:nvPr/>
        </p:nvSpPr>
        <p:spPr>
          <a:xfrm>
            <a:off x="678203" y="240036"/>
            <a:ext cx="4128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What Is IDisposable?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F2F16-3B5A-F7A2-2996-E6FEE848D968}"/>
              </a:ext>
            </a:extLst>
          </p:cNvPr>
          <p:cNvSpPr txBox="1"/>
          <p:nvPr/>
        </p:nvSpPr>
        <p:spPr>
          <a:xfrm>
            <a:off x="6106092" y="242552"/>
            <a:ext cx="5243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ea typeface="+mn-lt"/>
                <a:cs typeface="+mn-lt"/>
              </a:rPr>
              <a:t>IDisposable (Real Example)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93B343-73D5-4F8A-5C90-CD746DA36197}"/>
              </a:ext>
            </a:extLst>
          </p:cNvPr>
          <p:cNvSpPr txBox="1"/>
          <p:nvPr/>
        </p:nvSpPr>
        <p:spPr>
          <a:xfrm>
            <a:off x="824630" y="955110"/>
            <a:ext cx="397701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Purpose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Release </a:t>
            </a:r>
            <a:r>
              <a:rPr lang="en-US" b="1"/>
              <a:t>unmanaged resources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Files, DB connections, streams</a:t>
            </a:r>
          </a:p>
          <a:p>
            <a:pPr algn="ctr"/>
            <a:endParaRPr lang="en-US"/>
          </a:p>
        </p:txBody>
      </p:sp>
      <p:pic>
        <p:nvPicPr>
          <p:cNvPr id="7" name="Picture 6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139A437E-28E1-2B0D-5E1B-03693BBDC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31" y="2199492"/>
            <a:ext cx="3829050" cy="1352550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FC7AD4F-D696-AD2C-7A96-F554784DE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817" y="954262"/>
            <a:ext cx="6001271" cy="252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499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3CF3-318D-E989-0AF2-9D32BD7DC2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659" y="346855"/>
            <a:ext cx="6879964" cy="5669897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/>
              <a:t>Deferred Execution (LINQ)</a:t>
            </a:r>
            <a:endParaRPr lang="en-US" sz="1800" dirty="0"/>
          </a:p>
          <a:p>
            <a:pPr marL="347345" indent="-347345"/>
            <a:r>
              <a:rPr lang="en-US" sz="1800" dirty="0">
                <a:ea typeface="+mn-lt"/>
                <a:cs typeface="+mn-lt"/>
              </a:rPr>
              <a:t>Query </a:t>
            </a:r>
            <a:r>
              <a:rPr lang="en-US" sz="1800" b="1" dirty="0">
                <a:ea typeface="+mn-lt"/>
                <a:cs typeface="+mn-lt"/>
              </a:rPr>
              <a:t>is not executed immediately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marL="347345" indent="-347345"/>
            <a:r>
              <a:rPr lang="en-US" sz="1800" dirty="0">
                <a:ea typeface="+mn-lt"/>
                <a:cs typeface="+mn-lt"/>
              </a:rPr>
              <a:t>Executes </a:t>
            </a:r>
            <a:r>
              <a:rPr lang="en-US" sz="1800" b="1" dirty="0">
                <a:ea typeface="+mn-lt"/>
                <a:cs typeface="+mn-lt"/>
              </a:rPr>
              <a:t>only when the data is iterated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>
                <a:latin typeface="Consolas"/>
              </a:rPr>
              <a:t>foreach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latin typeface="Consolas"/>
              </a:rPr>
              <a:t>ToList</a:t>
            </a:r>
            <a:r>
              <a:rPr lang="en-US" sz="1800" dirty="0">
                <a:ea typeface="+mn-lt"/>
                <a:cs typeface="+mn-lt"/>
              </a:rPr>
              <a:t>, etc.).</a:t>
            </a:r>
            <a:endParaRPr lang="en-US" sz="1800" dirty="0"/>
          </a:p>
          <a:p>
            <a:pPr marL="347345" indent="-347345"/>
            <a:r>
              <a:rPr lang="en-US" sz="1800">
                <a:ea typeface="+mn-lt"/>
                <a:cs typeface="+mn-lt"/>
              </a:rPr>
              <a:t>Reflects </a:t>
            </a:r>
            <a:r>
              <a:rPr lang="en-US" sz="1800" b="1">
                <a:ea typeface="+mn-lt"/>
                <a:cs typeface="+mn-lt"/>
              </a:rPr>
              <a:t>latest changes in the collection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 dirty="0"/>
          </a:p>
          <a:p>
            <a:pPr marL="347345" indent="-347345"/>
            <a:endParaRPr lang="en-US" sz="1800" dirty="0"/>
          </a:p>
          <a:p>
            <a:pPr marL="347345" indent="-347345"/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A0B44-E0D1-E7F2-7351-611FC810E3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8A2D6AD-4560-EB31-6E6B-FE19BDD0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91" y="2401083"/>
            <a:ext cx="558165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504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5A16-4793-867D-8C1B-D847D8DE46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7221" y="440800"/>
            <a:ext cx="6890402" cy="5575952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/>
              <a:t>Immediate Execution (LINQ)</a:t>
            </a:r>
            <a:endParaRPr lang="en-US" sz="1800"/>
          </a:p>
          <a:p>
            <a:pPr marL="347345" indent="-347345"/>
            <a:r>
              <a:rPr lang="en-US" sz="1800" dirty="0">
                <a:ea typeface="+mn-lt"/>
                <a:cs typeface="+mn-lt"/>
              </a:rPr>
              <a:t>Query </a:t>
            </a:r>
            <a:r>
              <a:rPr lang="en-US" sz="1800" b="1" dirty="0">
                <a:ea typeface="+mn-lt"/>
                <a:cs typeface="+mn-lt"/>
              </a:rPr>
              <a:t>executes immediately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marL="347345" indent="-347345"/>
            <a:r>
              <a:rPr lang="en-US" sz="1800" dirty="0">
                <a:ea typeface="+mn-lt"/>
                <a:cs typeface="+mn-lt"/>
              </a:rPr>
              <a:t>Uses methods like </a:t>
            </a:r>
            <a:r>
              <a:rPr lang="en-US" sz="1800" b="1" dirty="0" err="1">
                <a:ea typeface="+mn-lt"/>
                <a:cs typeface="+mn-lt"/>
              </a:rPr>
              <a:t>ToList</a:t>
            </a:r>
            <a:r>
              <a:rPr lang="en-US" sz="1800" b="1" dirty="0">
                <a:ea typeface="+mn-lt"/>
                <a:cs typeface="+mn-lt"/>
              </a:rPr>
              <a:t>(), </a:t>
            </a:r>
            <a:r>
              <a:rPr lang="en-US" sz="1800" b="1" dirty="0" err="1">
                <a:ea typeface="+mn-lt"/>
                <a:cs typeface="+mn-lt"/>
              </a:rPr>
              <a:t>ToArray</a:t>
            </a:r>
            <a:r>
              <a:rPr lang="en-US" sz="1800" b="1" dirty="0">
                <a:ea typeface="+mn-lt"/>
                <a:cs typeface="+mn-lt"/>
              </a:rPr>
              <a:t>(), Count()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pPr marL="347345" indent="-347345"/>
            <a:r>
              <a:rPr lang="en-US" sz="1800" b="1">
                <a:ea typeface="+mn-lt"/>
                <a:cs typeface="+mn-lt"/>
              </a:rPr>
              <a:t>Result is stored in memory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2D817-AF11-F455-1C4B-1C47097B9B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EF645CD-3C1B-A405-2358-B2BF48584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21" y="2465018"/>
            <a:ext cx="481012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920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28B15-E646-2EBE-A84E-247A1C9C8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8A13E-74F5-C480-5442-9B4F626D0E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47A6E6-0ACC-A264-272A-A74BCD5B0AE3}"/>
              </a:ext>
            </a:extLst>
          </p:cNvPr>
          <p:cNvSpPr txBox="1"/>
          <p:nvPr/>
        </p:nvSpPr>
        <p:spPr>
          <a:xfrm>
            <a:off x="678203" y="240036"/>
            <a:ext cx="41288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Exception Handling (Real Projects)</a:t>
            </a:r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D0AE5-CEF9-BA4B-3458-F86AFA5C3C1E}"/>
              </a:ext>
            </a:extLst>
          </p:cNvPr>
          <p:cNvSpPr txBox="1"/>
          <p:nvPr/>
        </p:nvSpPr>
        <p:spPr>
          <a:xfrm>
            <a:off x="6106092" y="242552"/>
            <a:ext cx="5243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Global Exception Handling</a:t>
            </a:r>
            <a:endParaRPr lang="en-US" b="1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0D82ADB-C6D6-5326-4F3D-FF46D78DD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3" y="957133"/>
            <a:ext cx="4486275" cy="4505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C95BC3-6235-0E96-FCB7-F497178F7FF2}"/>
              </a:ext>
            </a:extLst>
          </p:cNvPr>
          <p:cNvSpPr txBox="1"/>
          <p:nvPr/>
        </p:nvSpPr>
        <p:spPr>
          <a:xfrm>
            <a:off x="5970739" y="1111685"/>
            <a:ext cx="550101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Middleware in ASP.NET Core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Filters for MVC</a:t>
            </a:r>
          </a:p>
          <a:p>
            <a:pPr lvl="1">
              <a:buFont typeface=""/>
              <a:buNone/>
            </a:pPr>
            <a:r>
              <a:rPr lang="en-US"/>
              <a:t>Centralized handling improves consistency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201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0F9A-7354-3800-3B77-0DABB2BDA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349A0-E614-F9B9-C8AF-E446C434D5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C6F91E-0213-2E79-3AC5-E55A964FC382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throw vs throw ex (Very Common Question)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B7C39-227E-C774-1672-613CC2DCFF67}"/>
              </a:ext>
            </a:extLst>
          </p:cNvPr>
          <p:cNvSpPr txBox="1"/>
          <p:nvPr/>
        </p:nvSpPr>
        <p:spPr>
          <a:xfrm>
            <a:off x="855599" y="3426251"/>
            <a:ext cx="5243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throw vs throw ex (Example)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40BC47-863C-8943-B1CA-7C36FB56D541}"/>
              </a:ext>
            </a:extLst>
          </p:cNvPr>
          <p:cNvSpPr txBox="1"/>
          <p:nvPr/>
        </p:nvSpPr>
        <p:spPr>
          <a:xfrm>
            <a:off x="824630" y="1111685"/>
            <a:ext cx="3810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throw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Preserves original stack trace</a:t>
            </a:r>
          </a:p>
          <a:p>
            <a:r>
              <a:rPr lang="en-US" b="1"/>
              <a:t>throw ex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Resets stack trace</a:t>
            </a:r>
          </a:p>
          <a:p>
            <a:pPr algn="ctr"/>
            <a:endParaRPr lang="en-US"/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D132CA8-A3B5-156C-950D-AE1A8D39D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67" y="3887440"/>
            <a:ext cx="449580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140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6F02A-3682-D329-BCC5-C74AE3BA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6C54D-5E66-7FC4-4571-71BDAA7F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🟦 Day 6 – SQL Fundamentals (Must-Answer Questions)</a:t>
            </a:r>
            <a:endParaRPr lang="en-US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706223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30CF-3950-617E-7CDD-6A2582962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F546-5771-6560-D816-92A9CAF5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0D2678-ED27-4CAC-601D-0576CC8408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58ADB-A544-9DB7-C427-7C589E8928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99C5B8-D760-CF55-3327-66E79C97B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922116"/>
              </p:ext>
            </p:extLst>
          </p:nvPr>
        </p:nvGraphicFramePr>
        <p:xfrm>
          <a:off x="3382027" y="511479"/>
          <a:ext cx="7292409" cy="571543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571543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Day 6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SQL Fundamentals (Interview Style)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Focus: Query thinking, not syntax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How do you design a database?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Primary key vs Unique key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Foreign key usage in real systems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Difference between DELETE, TRUNCATE, DROP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How do you handle NULLs?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👉 Interviewer expectations for backend developers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8903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83B6-2790-9BAE-34BE-D6C1ED7F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ED0BF-5990-AF36-642D-9CB06EEFB9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754DB5-D25D-EE9D-8AE2-352D48F4863A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How Do You Design a Database?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F4A18-6E9F-AEC5-1B56-B9BD5105C329}"/>
              </a:ext>
            </a:extLst>
          </p:cNvPr>
          <p:cNvSpPr txBox="1"/>
          <p:nvPr/>
        </p:nvSpPr>
        <p:spPr>
          <a:xfrm>
            <a:off x="1346548" y="746342"/>
            <a:ext cx="10647122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Practical Steps</a:t>
            </a:r>
            <a:endParaRPr lang="en-US"/>
          </a:p>
          <a:p>
            <a:pPr marL="228600" indent="-228600">
              <a:buFont typeface=""/>
              <a:buAutoNum type="arabicPeriod"/>
            </a:pPr>
            <a:r>
              <a:rPr lang="en-US"/>
              <a:t>Understand business requirements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Identify entities (tables)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Define relationships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Choose correct keys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Normalize (then denormalize if needed)</a:t>
            </a:r>
          </a:p>
          <a:p>
            <a:endParaRPr lang="en-US" dirty="0"/>
          </a:p>
          <a:p>
            <a:r>
              <a:rPr lang="en-US" b="1"/>
              <a:t>Real Project Example</a:t>
            </a:r>
          </a:p>
          <a:p>
            <a:r>
              <a:rPr lang="en-US" b="1"/>
              <a:t>Order Management System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Customer</a:t>
            </a:r>
          </a:p>
          <a:p>
            <a:pPr marL="228600" indent="-228600">
              <a:buFont typeface=""/>
              <a:buChar char="•"/>
            </a:pPr>
            <a:r>
              <a:rPr lang="en-US"/>
              <a:t>Order</a:t>
            </a:r>
          </a:p>
          <a:p>
            <a:pPr marL="228600" indent="-228600">
              <a:buFont typeface=""/>
              <a:buChar char="•"/>
            </a:pPr>
            <a:r>
              <a:rPr lang="en-US"/>
              <a:t>OrderItems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Product</a:t>
            </a:r>
          </a:p>
          <a:p>
            <a:r>
              <a:rPr lang="en-US"/>
              <a:t>👉 One customer → many orders 👉 One order → many items</a:t>
            </a:r>
          </a:p>
          <a:p>
            <a:endParaRPr lang="en-US" dirty="0"/>
          </a:p>
          <a:p>
            <a:r>
              <a:rPr lang="en-US" b="1"/>
              <a:t>Interview line:</a:t>
            </a:r>
          </a:p>
          <a:p>
            <a:pPr lvl="1">
              <a:buFont typeface=""/>
              <a:buNone/>
            </a:pPr>
            <a:r>
              <a:rPr lang="en-US"/>
              <a:t>“I start with business flows, identify entities, define relationships, and then design keys based on access patterns.”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825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A6E1F-5B3E-A6DE-2A47-556EA789D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38F7E-D614-D683-9027-6B6608429A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45486-5B6B-3EC2-58D2-4ABB8E1D3082}"/>
              </a:ext>
            </a:extLst>
          </p:cNvPr>
          <p:cNvSpPr txBox="1"/>
          <p:nvPr/>
        </p:nvSpPr>
        <p:spPr>
          <a:xfrm>
            <a:off x="678203" y="240036"/>
            <a:ext cx="101726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OLTP(on;ine transaction processing system) and OLAPS(online analytical processing system)</a:t>
            </a:r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58A24-E235-CA34-D52A-160EEDC5D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44" y="1062038"/>
            <a:ext cx="6257925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432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AFA27-8FFE-C04E-5713-C516A627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646E9-D286-E672-B94B-AD85FC15CB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3EF7C-A770-98D9-D9BC-98EC0D48327F}"/>
              </a:ext>
            </a:extLst>
          </p:cNvPr>
          <p:cNvSpPr txBox="1"/>
          <p:nvPr/>
        </p:nvSpPr>
        <p:spPr>
          <a:xfrm>
            <a:off x="678203" y="240036"/>
            <a:ext cx="101726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OLTP(online transaction processing system) and OLAPS(online analytical processing system)</a:t>
            </a:r>
            <a:endParaRPr lang="en-US" b="1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AE2CEF-2F8E-E6EC-7EE5-738D804ED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043113"/>
            <a:ext cx="108775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557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E859E-13BF-D66A-5661-84452B64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BB6FD-4EF7-E3E0-D9DA-832995A82E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D59A3-64D4-AC51-7E51-82C7A8072496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Primary Key vs Unique Key</a:t>
            </a:r>
            <a:endParaRPr lang="en-US" b="1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D395E7-E74A-A659-E503-5BB9A56A8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65" y="953900"/>
            <a:ext cx="802957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504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E412A-9B3A-B00D-6637-0C8CE633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5AC82-0E15-015C-537E-4D07559C83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36FD27-7935-E9D7-1198-CC01CE38279F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Foreign Key Usage in Real Systems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77EC9-A9E7-B22E-A42B-E3B3A5E72570}"/>
              </a:ext>
            </a:extLst>
          </p:cNvPr>
          <p:cNvSpPr txBox="1"/>
          <p:nvPr/>
        </p:nvSpPr>
        <p:spPr>
          <a:xfrm>
            <a:off x="862853" y="840441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Why Use Foreign Keys?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Enforce data integrity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Prevent orphan records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Improve data consistency</a:t>
            </a:r>
          </a:p>
          <a:p>
            <a:endParaRPr lang="en-US" dirty="0"/>
          </a:p>
          <a:p>
            <a:r>
              <a:rPr lang="en-US" b="1"/>
              <a:t>Example</a:t>
            </a:r>
          </a:p>
          <a:p>
            <a:endParaRPr lang="en-US" b="1" dirty="0"/>
          </a:p>
          <a:p>
            <a:pPr algn="ctr"/>
            <a:endParaRPr lang="en-US"/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78524DB-DA38-2343-9E0C-F37095B86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072" y="2562225"/>
            <a:ext cx="6029325" cy="590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70679E-F838-B0F8-2BE9-A1ADE186F04A}"/>
              </a:ext>
            </a:extLst>
          </p:cNvPr>
          <p:cNvSpPr txBox="1"/>
          <p:nvPr/>
        </p:nvSpPr>
        <p:spPr>
          <a:xfrm>
            <a:off x="1042147" y="3552265"/>
            <a:ext cx="987238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r>
              <a:rPr lang="en-US" b="1"/>
              <a:t>Interview line:</a:t>
            </a:r>
          </a:p>
          <a:p>
            <a:pPr lvl="1">
              <a:buFont typeface=""/>
              <a:buNone/>
            </a:pPr>
            <a:r>
              <a:rPr lang="en-US"/>
              <a:t>“Foreign keys protect data integrity, but in high-performance systems we balance FK usage with application-level validation.”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501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454F-85C2-4ABD-D1CB-656A4CF1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1AEFB-7C21-35AB-A57A-27E3619B8D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B782C7-0BA1-E1F3-4815-88B613F272B5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DELETE vs TRUNCATE vs DROP</a:t>
            </a:r>
            <a:endParaRPr lang="en-US" b="1"/>
          </a:p>
        </p:txBody>
      </p:sp>
      <p:pic>
        <p:nvPicPr>
          <p:cNvPr id="7" name="Picture 6" descr="A screenshot of a computer program">
            <a:extLst>
              <a:ext uri="{FF2B5EF4-FFF2-40B4-BE49-F238E27FC236}">
                <a16:creationId xmlns:a16="http://schemas.microsoft.com/office/drawing/2014/main" id="{250BAA41-167F-3BC0-2AAF-900F57B97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02" y="711854"/>
            <a:ext cx="859155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226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96FC2-5816-3BD6-904E-04CF639AC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564D4-8769-31CA-7CC8-0714FE9F73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73A5C-0DDF-F4E0-5781-3BBE5B673A61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How Do You Handle NULLs?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E2AC7C-B371-748F-1EAA-992C7016F0AC}"/>
              </a:ext>
            </a:extLst>
          </p:cNvPr>
          <p:cNvSpPr txBox="1"/>
          <p:nvPr/>
        </p:nvSpPr>
        <p:spPr>
          <a:xfrm>
            <a:off x="806824" y="974912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Key Points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NULL ≠ empty or zero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Comparisons with NULL require IS NULL</a:t>
            </a:r>
          </a:p>
          <a:p>
            <a:r>
              <a:rPr lang="en-US" b="1"/>
              <a:t>Common Handling</a:t>
            </a:r>
          </a:p>
          <a:p>
            <a:pPr algn="ctr"/>
            <a:endParaRPr lang="en-US"/>
          </a:p>
        </p:txBody>
      </p:sp>
      <p:pic>
        <p:nvPicPr>
          <p:cNvPr id="3" name="Picture 2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2DA10082-907D-E7A1-1D06-857CB2C0E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99" y="2304210"/>
            <a:ext cx="5734050" cy="904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C2A749-1025-473A-0B76-9B00730F4F10}"/>
              </a:ext>
            </a:extLst>
          </p:cNvPr>
          <p:cNvSpPr txBox="1"/>
          <p:nvPr/>
        </p:nvSpPr>
        <p:spPr>
          <a:xfrm>
            <a:off x="986118" y="3328147"/>
            <a:ext cx="1063438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Real Scenario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Nullable fields for optional data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Avoid NULLs in calculations</a:t>
            </a:r>
          </a:p>
          <a:p>
            <a:endParaRPr lang="en-US" dirty="0"/>
          </a:p>
          <a:p>
            <a:r>
              <a:rPr lang="en-US" b="1"/>
              <a:t>Interview line:</a:t>
            </a:r>
          </a:p>
          <a:p>
            <a:pPr lvl="1">
              <a:buFont typeface=""/>
              <a:buNone/>
            </a:pPr>
            <a:r>
              <a:rPr lang="en-US"/>
              <a:t>“I handle NULLs explicitly to avoid incorrect aggregations and unexpected query results.”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877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AE0E-5ACF-D1A9-AD2E-9A86DC5CE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0CF0-B7AB-970E-E8BF-201CEA6DA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🟦 Day 7 – SQL Fundamentals (Must-Answer Questions)</a:t>
            </a:r>
            <a:endParaRPr lang="en-US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036060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12415-FD94-7A9C-F467-BC8EEAF8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E683-4FB7-C158-001E-9B8A7B4F8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1B0D7-19A5-2217-896A-87ACA37C86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F9A36-E0F1-B95E-03B9-3E62E27457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70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0D951-A27B-CB80-6FF7-0FC759878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095574"/>
              </p:ext>
            </p:extLst>
          </p:nvPr>
        </p:nvGraphicFramePr>
        <p:xfrm>
          <a:off x="3382027" y="511479"/>
          <a:ext cx="7292409" cy="476335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47633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Day 7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S</a:t>
                      </a: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SQL Query Questions (Very Common)</a:t>
                      </a:r>
                      <a:endParaRPr lang="en-US" sz="1800" b="0" i="0" u="none" strike="noStrike" noProof="0" dirty="0"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Hands-on interview query patterns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Find duplicate records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INNER JOIN vs LEFT JOIN (with example)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WHERE vs HAVING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Fetch latest record per group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  <a:latin typeface="Aptos Light"/>
                        </a:rPr>
                        <a:t>Count records per category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 dirty="0">
                        <a:effectLst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2555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0F8E3-6AB4-2CDC-8AC5-59CFE2DA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CC8D6-1EAA-8EF0-C199-56BB975E64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6890EF-0BB0-96AC-CEE9-BE3773459D7E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Find Duplicate Records</a:t>
            </a:r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D7BF1-90E2-C7B9-5331-F32D4C50FE82}"/>
              </a:ext>
            </a:extLst>
          </p:cNvPr>
          <p:cNvSpPr txBox="1"/>
          <p:nvPr/>
        </p:nvSpPr>
        <p:spPr>
          <a:xfrm>
            <a:off x="803753" y="934233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Question</a:t>
            </a:r>
          </a:p>
          <a:p>
            <a:r>
              <a:rPr lang="en-US"/>
              <a:t>Find duplicate emails in Employee table.</a:t>
            </a:r>
          </a:p>
          <a:p>
            <a:endParaRPr lang="en-US" dirty="0"/>
          </a:p>
          <a:p>
            <a:r>
              <a:rPr lang="en-US" b="1"/>
              <a:t>Thinking Process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Duplicates mean COUNT &gt; 1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Need GROUP BY</a:t>
            </a:r>
          </a:p>
          <a:p>
            <a:pPr algn="ctr"/>
            <a:endParaRPr lang="en-US"/>
          </a:p>
        </p:txBody>
      </p:sp>
      <p:pic>
        <p:nvPicPr>
          <p:cNvPr id="8" name="Picture 7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4E2067E3-6303-4833-628A-EBB961ED0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828" y="604381"/>
            <a:ext cx="47815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083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AD083-F416-3FF8-733D-265CCF44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E8568-F1B8-F741-6BD1-57921DB2B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C29A6-FD61-CC0E-975B-5142709009B2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INNER JOIN vs LEFT JOIN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38A95-FE48-FB34-C949-D2C71E0FC838}"/>
              </a:ext>
            </a:extLst>
          </p:cNvPr>
          <p:cNvSpPr txBox="1"/>
          <p:nvPr/>
        </p:nvSpPr>
        <p:spPr>
          <a:xfrm>
            <a:off x="793315" y="975986"/>
            <a:ext cx="387263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Scenario</a:t>
            </a:r>
          </a:p>
          <a:p>
            <a:r>
              <a:rPr lang="en-US"/>
              <a:t>Customer and Orders tables</a:t>
            </a:r>
          </a:p>
          <a:p>
            <a:endParaRPr lang="en-US" dirty="0"/>
          </a:p>
          <a:p>
            <a:r>
              <a:rPr lang="en-US" b="1"/>
              <a:t>INNER JOIN</a:t>
            </a:r>
          </a:p>
          <a:p>
            <a:r>
              <a:rPr lang="en-US"/>
              <a:t>Returns matching records only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4794A-DE6C-5344-A10A-9C6BDFE6C8FF}"/>
              </a:ext>
            </a:extLst>
          </p:cNvPr>
          <p:cNvSpPr txBox="1"/>
          <p:nvPr/>
        </p:nvSpPr>
        <p:spPr>
          <a:xfrm>
            <a:off x="793315" y="296971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LEFT JOIN</a:t>
            </a:r>
          </a:p>
          <a:p>
            <a:r>
              <a:rPr lang="en-US"/>
              <a:t>Returns all left table records</a:t>
            </a:r>
          </a:p>
          <a:p>
            <a:pPr algn="ctr"/>
            <a:endParaRPr lang="en-US"/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A2D65D3-A586-5E3B-C8E8-9941B07FF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86" y="3902901"/>
            <a:ext cx="3590925" cy="1828800"/>
          </a:xfrm>
          <a:prstGeom prst="rect">
            <a:avLst/>
          </a:prstGeom>
        </p:spPr>
      </p:pic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BD76602-DB70-281D-AA26-008311557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757" y="970833"/>
            <a:ext cx="3590925" cy="17430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D80B55-63EC-A573-E54B-F9BCC5D5224C}"/>
              </a:ext>
            </a:extLst>
          </p:cNvPr>
          <p:cNvSpPr txBox="1"/>
          <p:nvPr/>
        </p:nvSpPr>
        <p:spPr>
          <a:xfrm>
            <a:off x="5125233" y="4211877"/>
            <a:ext cx="643002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Interview Line:</a:t>
            </a:r>
          </a:p>
          <a:p>
            <a:pPr lvl="1">
              <a:buFont typeface=""/>
              <a:buNone/>
            </a:pPr>
            <a:r>
              <a:rPr lang="en-US"/>
              <a:t>"INNER JOIN filters unmatched rows, while LEFT JOIN preserves all left-side records."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522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FA0E-2E90-2FB8-2432-213CCBCE4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8A880-1FB8-35AA-468D-6C54992BBA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69157-DBF7-00F5-301B-8BDBFC4B2D46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WHERE vs HAVING</a:t>
            </a:r>
            <a:endParaRPr lang="en-US" b="1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4E8AA5-E309-3288-E4AE-60EC0A92B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62" y="749996"/>
            <a:ext cx="8048625" cy="31242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BBDFEF-2EDC-AD22-414A-69119F312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52" y="4057585"/>
            <a:ext cx="4791075" cy="2333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54FB2B-4322-608D-5DE8-EE25A4BFE2A0}"/>
              </a:ext>
            </a:extLst>
          </p:cNvPr>
          <p:cNvSpPr txBox="1"/>
          <p:nvPr/>
        </p:nvSpPr>
        <p:spPr>
          <a:xfrm>
            <a:off x="5626274" y="4775548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Interview Line:</a:t>
            </a:r>
          </a:p>
          <a:p>
            <a:pPr lvl="1">
              <a:buFont typeface=""/>
              <a:buNone/>
            </a:pPr>
            <a:r>
              <a:rPr lang="en-US"/>
              <a:t>"WHERE filters raw rows, HAVING filters aggregated results."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9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FA6C2-D3DA-668B-AAC2-6897F1ABC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455F8-B8AB-B12E-1F2D-2BD1F67838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7A7EE-9848-DB5E-A8EF-FE3D35BD7010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Fetch Latest Record Per Group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50D19-26D2-34FA-6934-C546A40C2DBF}"/>
              </a:ext>
            </a:extLst>
          </p:cNvPr>
          <p:cNvSpPr txBox="1"/>
          <p:nvPr/>
        </p:nvSpPr>
        <p:spPr>
          <a:xfrm>
            <a:off x="840441" y="840441"/>
            <a:ext cx="351864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Scenario</a:t>
            </a:r>
          </a:p>
          <a:p>
            <a:r>
              <a:rPr lang="en-US"/>
              <a:t>Get latest order per customer</a:t>
            </a:r>
          </a:p>
          <a:p>
            <a:endParaRPr lang="en-US" dirty="0"/>
          </a:p>
          <a:p>
            <a:r>
              <a:rPr lang="en-US" b="1"/>
              <a:t>Thinking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Partition by CustomerId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Order by OrderDate DESC</a:t>
            </a:r>
          </a:p>
          <a:p>
            <a:pPr marL="228600" indent="-228600">
              <a:buFont typeface=""/>
              <a:buChar char="•"/>
            </a:pPr>
            <a:r>
              <a:rPr lang="en-US"/>
              <a:t>Use ROW_NUMBER()</a:t>
            </a:r>
          </a:p>
          <a:p>
            <a:pPr algn="ctr"/>
            <a:endParaRPr lang="en-US"/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EC23AD5-202E-B155-9724-C677EFE23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22" y="3032872"/>
            <a:ext cx="8448675" cy="3257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9ED2F9-D4C9-A45B-43E2-CC1F8429E603}"/>
              </a:ext>
            </a:extLst>
          </p:cNvPr>
          <p:cNvSpPr txBox="1"/>
          <p:nvPr/>
        </p:nvSpPr>
        <p:spPr>
          <a:xfrm>
            <a:off x="5782235" y="1389529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Interview Explanation:</a:t>
            </a:r>
          </a:p>
          <a:p>
            <a:pPr lvl="1">
              <a:buFont typeface=""/>
              <a:buNone/>
            </a:pPr>
            <a:r>
              <a:rPr lang="en-US"/>
              <a:t>"I partition by customer, sort by date descending, and select first row per group."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164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0E754-264B-401F-FC0B-7C3AC2B5C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CCF7D-8582-441F-6BDB-FC3DAA4A82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88CEA7-CB69-9A3C-7423-A168CD2D7CC9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Count Records Per Category</a:t>
            </a:r>
            <a:endParaRPr lang="en-US" b="1" dirty="0"/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B4A97A3-23E7-DA4A-660E-E260B7F8C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44" y="1126472"/>
            <a:ext cx="598170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1438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6884F-3D17-6184-EF65-8993D5B3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77760-0655-D47B-E2CA-2EAE32E419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A57493-5F04-2CB1-BEEA-B623E1652652}"/>
              </a:ext>
            </a:extLst>
          </p:cNvPr>
          <p:cNvSpPr txBox="1"/>
          <p:nvPr/>
        </p:nvSpPr>
        <p:spPr>
          <a:xfrm>
            <a:off x="1221288" y="1497904"/>
            <a:ext cx="60960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Clustered Index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Data is </a:t>
            </a:r>
            <a:r>
              <a:rPr lang="en-US" b="1"/>
              <a:t>physically sorted</a:t>
            </a:r>
            <a:r>
              <a:rPr lang="en-US"/>
              <a:t> in the table.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Table can have </a:t>
            </a:r>
            <a:r>
              <a:rPr lang="en-US" b="1"/>
              <a:t>only ONE clustered index</a:t>
            </a:r>
            <a:r>
              <a:rPr lang="en-US"/>
              <a:t>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Faster for </a:t>
            </a:r>
            <a:r>
              <a:rPr lang="en-US" b="1"/>
              <a:t>range queries</a:t>
            </a:r>
            <a:r>
              <a:rPr lang="en-US"/>
              <a:t>.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r>
              <a:rPr lang="en-US">
                <a:ea typeface="+mn-lt"/>
                <a:cs typeface="+mn-lt"/>
              </a:rPr>
              <a:t>CREATE TABLE Students (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    Id INT PRIMARY KEY,  -- Clustered Index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Name VARCHAR(50),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Marks INT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);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399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397B6-1B30-14D4-886F-395CE944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E63DE-0030-A056-F22D-7157E24A18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E0A218-69A5-9B0A-A27A-981B18834BC4}"/>
              </a:ext>
            </a:extLst>
          </p:cNvPr>
          <p:cNvSpPr txBox="1"/>
          <p:nvPr/>
        </p:nvSpPr>
        <p:spPr>
          <a:xfrm>
            <a:off x="1221288" y="1497904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Non-Clustered Index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Data is </a:t>
            </a:r>
            <a:r>
              <a:rPr lang="en-US" b="1">
                <a:ea typeface="+mn-lt"/>
                <a:cs typeface="+mn-lt"/>
              </a:rPr>
              <a:t>not physically sorted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Creates a </a:t>
            </a:r>
            <a:r>
              <a:rPr lang="en-US" b="1">
                <a:ea typeface="+mn-lt"/>
                <a:cs typeface="+mn-lt"/>
              </a:rPr>
              <a:t>separate structure (index + pointer)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Table can have </a:t>
            </a:r>
            <a:r>
              <a:rPr lang="en-US" b="1">
                <a:ea typeface="+mn-lt"/>
                <a:cs typeface="+mn-lt"/>
              </a:rPr>
              <a:t>multiple non-clustered indexes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endParaRPr lang="en-US" b="1" dirty="0"/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CREATE NONCLUSTERED INDEX </a:t>
            </a:r>
            <a:r>
              <a:rPr lang="en-US" dirty="0" err="1">
                <a:ea typeface="+mn-lt"/>
                <a:cs typeface="+mn-lt"/>
              </a:rPr>
              <a:t>idx_name</a:t>
            </a:r>
            <a:endParaRPr lang="en-US" dirty="0" err="1"/>
          </a:p>
          <a:p>
            <a:r>
              <a:rPr lang="en-US">
                <a:ea typeface="+mn-lt"/>
                <a:cs typeface="+mn-lt"/>
              </a:rPr>
              <a:t>ON Students(Name);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936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4C8D9-824D-DEEB-F774-C2A092A14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5E56-2900-6ACC-A728-07B80062F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🟦 Day 8 – SQL Fundamentals (Must-Answer Questions)</a:t>
            </a:r>
            <a:endParaRPr lang="en-US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5620670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A772D-F561-3C18-2667-D14B03B7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15127-A3E6-656A-E937-B65929FE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C10F94-80EC-7E4E-6FE2-14A57AE7AB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6DDB9-0C2A-A571-65ED-0AD5F5A8B7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79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E222CE-E357-05BA-B70B-8AD45ECDB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709404"/>
              </p:ext>
            </p:extLst>
          </p:nvPr>
        </p:nvGraphicFramePr>
        <p:xfrm>
          <a:off x="3382027" y="511479"/>
          <a:ext cx="7292409" cy="55778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447061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Day 8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Advanced SQL Interview Questions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Focus: What impresses interviewers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Subquery vs Join – when to use what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What is CTE?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Why CTE improves readability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ROW_NUMBER vs RANK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Pagination query patterns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0" i="0" u="none" strike="noStrike" noProof="0" dirty="0">
                        <a:effectLst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0908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C4A7-2E86-A497-0A3A-E68CE902A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09E8-0AE6-9476-CF92-EAA0ED515D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232B4-8EEE-C284-3191-F9BAA40FFD8B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Subquery vs Join – When to Use What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85F983-29D5-78AF-343E-4E3CBBC1DBA5}"/>
              </a:ext>
            </a:extLst>
          </p:cNvPr>
          <p:cNvSpPr txBox="1"/>
          <p:nvPr/>
        </p:nvSpPr>
        <p:spPr>
          <a:xfrm>
            <a:off x="887260" y="840288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Subquery</a:t>
            </a:r>
          </a:p>
          <a:p>
            <a:r>
              <a:rPr lang="en-US"/>
              <a:t>A query inside another query.</a:t>
            </a:r>
          </a:p>
          <a:p>
            <a:endParaRPr lang="en-US" dirty="0"/>
          </a:p>
          <a:p>
            <a:r>
              <a:rPr lang="en-US" b="1"/>
              <a:t>Example</a:t>
            </a:r>
          </a:p>
          <a:p>
            <a:r>
              <a:rPr lang="en-US"/>
              <a:t>Get employees who earn more than average salary:</a:t>
            </a:r>
          </a:p>
          <a:p>
            <a:pPr algn="ctr"/>
            <a:endParaRPr lang="en-US"/>
          </a:p>
        </p:txBody>
      </p:sp>
      <p:pic>
        <p:nvPicPr>
          <p:cNvPr id="3" name="Picture 2" descr="A close-up of a person&amp;#39;s face&#10;&#10;AI-generated content may be incorrect.">
            <a:extLst>
              <a:ext uri="{FF2B5EF4-FFF2-40B4-BE49-F238E27FC236}">
                <a16:creationId xmlns:a16="http://schemas.microsoft.com/office/drawing/2014/main" id="{44AF38C0-0BD6-9029-94D5-F212CDC9E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34" y="2694336"/>
            <a:ext cx="6353175" cy="1114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BC7296-41C8-EFC2-BD6A-FE4840ED8494}"/>
              </a:ext>
            </a:extLst>
          </p:cNvPr>
          <p:cNvSpPr txBox="1"/>
          <p:nvPr/>
        </p:nvSpPr>
        <p:spPr>
          <a:xfrm>
            <a:off x="1012521" y="4378890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When to Use Subquery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Single value comparison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EXISTS / NOT EXISTS checks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Simple filtering logic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58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F97D-7E74-F8CF-20DE-C34BE87E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0553C-CB1A-49A6-BC28-B0287D7800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7D326-C7BA-EAB0-B522-D69866ECC28C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Subquery vs Join – When to Use What</a:t>
            </a:r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49540A-3BD9-3C78-B76E-AB8A8540044E}"/>
              </a:ext>
            </a:extLst>
          </p:cNvPr>
          <p:cNvSpPr txBox="1"/>
          <p:nvPr/>
        </p:nvSpPr>
        <p:spPr>
          <a:xfrm>
            <a:off x="874059" y="974912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Join</a:t>
            </a:r>
          </a:p>
          <a:p>
            <a:r>
              <a:rPr lang="en-US"/>
              <a:t>Combines data from multiple tables.</a:t>
            </a:r>
          </a:p>
          <a:p>
            <a:endParaRPr lang="en-US" dirty="0"/>
          </a:p>
          <a:p>
            <a:r>
              <a:rPr lang="en-US" b="1"/>
              <a:t>Example</a:t>
            </a:r>
          </a:p>
          <a:p>
            <a:r>
              <a:rPr lang="en-US"/>
              <a:t>Get employee with department name:</a:t>
            </a:r>
          </a:p>
          <a:p>
            <a:pPr algn="ctr"/>
            <a:endParaRPr lang="en-US"/>
          </a:p>
        </p:txBody>
      </p:sp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E280C707-AF0C-E7D2-BF53-0C539F17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06" y="2546258"/>
            <a:ext cx="5257800" cy="1362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790DBB-D0B2-C6F2-FBD2-C73C8C5FC60D}"/>
              </a:ext>
            </a:extLst>
          </p:cNvPr>
          <p:cNvSpPr txBox="1"/>
          <p:nvPr/>
        </p:nvSpPr>
        <p:spPr>
          <a:xfrm>
            <a:off x="997323" y="4191000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When to Use Join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Retrieving columns from multiple tables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Reporting queries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Aggregated results with grouping</a:t>
            </a:r>
          </a:p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4046A1-8063-9EFC-5325-6973BC973E9F}"/>
              </a:ext>
            </a:extLst>
          </p:cNvPr>
          <p:cNvSpPr txBox="1"/>
          <p:nvPr/>
        </p:nvSpPr>
        <p:spPr>
          <a:xfrm>
            <a:off x="997324" y="5524500"/>
            <a:ext cx="104774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Interview-Level Answer</a:t>
            </a:r>
          </a:p>
          <a:p>
            <a:pPr lvl="1">
              <a:buFont typeface=""/>
              <a:buNone/>
            </a:pPr>
            <a:r>
              <a:rPr lang="en-US"/>
              <a:t>"I use subqueries for value-based filtering and EXISTS checks. I prefer joins when retrieving related data across tables for better readability and optimization."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152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B192A-B796-4192-A791-1DA5DD9B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CCDFD-6917-885A-FBEE-85C445210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614F0B-56F9-791A-6B4D-2A76C128BA6D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What is a CTE?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9DCE80-CDD4-E6C1-1BDF-575104957855}"/>
              </a:ext>
            </a:extLst>
          </p:cNvPr>
          <p:cNvSpPr txBox="1"/>
          <p:nvPr/>
        </p:nvSpPr>
        <p:spPr>
          <a:xfrm>
            <a:off x="683559" y="952500"/>
            <a:ext cx="86733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CTE (Common Table Expression) is a temporary result set defined using WITH clause.</a:t>
            </a:r>
          </a:p>
          <a:p>
            <a:r>
              <a:rPr lang="en-US" b="1"/>
              <a:t>Syntax</a:t>
            </a:r>
          </a:p>
          <a:p>
            <a:pPr algn="ctr"/>
            <a:endParaRPr lang="en-US"/>
          </a:p>
        </p:txBody>
      </p:sp>
      <p:pic>
        <p:nvPicPr>
          <p:cNvPr id="5" name="Picture 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6950A998-2254-5961-3145-B750CA49E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93526"/>
            <a:ext cx="4572000" cy="1638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458DD4-78DB-1867-2C95-30D493A3B0BD}"/>
              </a:ext>
            </a:extLst>
          </p:cNvPr>
          <p:cNvSpPr txBox="1"/>
          <p:nvPr/>
        </p:nvSpPr>
        <p:spPr>
          <a:xfrm>
            <a:off x="762000" y="4146176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Why CTE is Used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Break complex queries into logical parts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Improve readability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Reuse result within same query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Helpful for recursion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31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74F31-F78C-EDE6-617C-47B89D9CE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ADA86-3803-1815-3D51-1FC58C0938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86FFE-324F-F959-AB62-188CE9743CFB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Why CTE Improves Readability</a:t>
            </a:r>
            <a:endParaRPr lang="en-US" b="1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2AD675-9031-4DEE-B880-90FB404BA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14" y="646019"/>
            <a:ext cx="8620125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50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6C4F-5BC2-C6A3-2966-A23BAF0A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48143-BE1B-505F-D45E-8667C0E946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8E680-2ABD-301F-3426-E9CB19B681C0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ROW_NUMBER vs RANK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B94FB-C0EE-CF62-23AC-01CA04369E1D}"/>
              </a:ext>
            </a:extLst>
          </p:cNvPr>
          <p:cNvSpPr txBox="1"/>
          <p:nvPr/>
        </p:nvSpPr>
        <p:spPr>
          <a:xfrm>
            <a:off x="773206" y="930088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Both are window functions.</a:t>
            </a:r>
          </a:p>
          <a:p>
            <a:r>
              <a:rPr lang="en-US" b="1"/>
              <a:t>Example Data (Salary Ranking)</a:t>
            </a:r>
          </a:p>
          <a:p>
            <a:pPr algn="ctr"/>
            <a:endParaRPr lang="en-US"/>
          </a:p>
        </p:txBody>
      </p:sp>
      <p:pic>
        <p:nvPicPr>
          <p:cNvPr id="3" name="Picture 2" descr="A close-up of a sign&#10;&#10;AI-generated content may be incorrect.">
            <a:extLst>
              <a:ext uri="{FF2B5EF4-FFF2-40B4-BE49-F238E27FC236}">
                <a16:creationId xmlns:a16="http://schemas.microsoft.com/office/drawing/2014/main" id="{BCC0A7CB-F1E3-7288-3C6A-014952143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04" y="2034148"/>
            <a:ext cx="7381875" cy="140017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EBE77B-B346-2142-F001-221BAC3CF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28" y="3697661"/>
            <a:ext cx="664845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658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91B60-0583-D2B4-9F8B-58429403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65709-D255-2D68-29C5-ABD50E7132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4EF560-E567-39AE-7F98-1ABB614FF469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Pagination Query Patterns</a:t>
            </a:r>
            <a:endParaRPr lang="en-US" b="1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C2877F-E569-CD4A-1C24-E557C89D3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087" y="900672"/>
            <a:ext cx="6343650" cy="2524125"/>
          </a:xfrm>
          <a:prstGeom prst="rect">
            <a:avLst/>
          </a:prstGeom>
        </p:spPr>
      </p:pic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4AF6A98-EEBB-7727-CE5B-1642FEA61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25" y="3500718"/>
            <a:ext cx="85439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857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B0E6B-0607-30C2-AAFC-EEF6F81C1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CEED1-BAE4-6005-2FF0-830D72274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ea typeface="+mj-lt"/>
                <a:cs typeface="+mj-lt"/>
              </a:rPr>
              <a:t>🟦 Day 9 – </a:t>
            </a:r>
            <a:r>
              <a:rPr lang="en-US" sz="1800" dirty="0">
                <a:solidFill>
                  <a:schemeClr val="bg1"/>
                </a:solidFill>
                <a:latin typeface="Aptos Light"/>
                <a:ea typeface="+mj-lt"/>
                <a:cs typeface="+mj-lt"/>
              </a:rPr>
              <a:t>NET Application &amp; Project Explanation</a:t>
            </a:r>
          </a:p>
          <a:p>
            <a:endParaRPr lang="en-US" b="0" dirty="0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2794629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8C439-EF9B-AA35-14C4-EE6BECBFF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E59C-DAD5-380C-28AF-464621762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DC9EAE-B354-1415-EB3A-C7DF12732D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7CFB0-4FC4-B80C-27FF-57952F44A9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87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2CA1C8-F6EC-8012-E5EE-56B98D4F4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677307"/>
              </p:ext>
            </p:extLst>
          </p:nvPr>
        </p:nvGraphicFramePr>
        <p:xfrm>
          <a:off x="3382027" y="511479"/>
          <a:ext cx="7292409" cy="530352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447061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</a:rPr>
                        <a:t>Day 9</a:t>
                      </a:r>
                      <a:r>
                        <a:rPr lang="en-US" sz="1800" b="1" i="0" u="none" strike="noStrike" noProof="0" dirty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 dirty="0">
                          <a:effectLst/>
                        </a:rPr>
                        <a:t>.NET Application &amp; Project Explanation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Focus: “Tell me about your project”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End-to-end application flow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Layered architecture explanation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ADO.NET vs Entity Framework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Code First vs DB First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sz="1800" b="0" i="0" u="none" strike="noStrike" noProof="0" dirty="0">
                          <a:effectLst/>
                        </a:rPr>
                        <a:t>Lazy loading – real problems &amp; fixes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How you improved performance in your project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👉 Turning your experience into strong answers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8498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4E3F5-7E62-F167-9A2C-019783386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01A5C-DC87-463C-3A53-126AE03050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25101-9926-059D-7D12-620D682DDC0A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How to Start – Strong Opening Structure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3A6CB5-CD16-2E5D-DE26-8D9846046EF6}"/>
              </a:ext>
            </a:extLst>
          </p:cNvPr>
          <p:cNvSpPr txBox="1"/>
          <p:nvPr/>
        </p:nvSpPr>
        <p:spPr>
          <a:xfrm>
            <a:off x="678493" y="892479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🎤 Recommended Structure (2–3 Minutes Answer)</a:t>
            </a:r>
          </a:p>
          <a:p>
            <a:endParaRPr lang="en-US" dirty="0"/>
          </a:p>
          <a:p>
            <a:pPr marL="228600" indent="-228600">
              <a:buFont typeface=""/>
              <a:buAutoNum type="arabicPeriod"/>
            </a:pPr>
            <a:r>
              <a:rPr lang="en-US" dirty="0"/>
              <a:t>Project domain + purpose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Tech stack used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Architecture overview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Your role &amp; responsibilities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Performance improvements / challenges solved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3817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87A2F-FE98-883D-6D3B-2816B76A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A1162-7FBA-924A-E5B9-94E7B0E1E2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5E831-AD4F-123E-964D-AEFF45182875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End-to-End Application Flow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DF5710-0690-04E9-EE97-D91328A05D33}"/>
              </a:ext>
            </a:extLst>
          </p:cNvPr>
          <p:cNvSpPr txBox="1"/>
          <p:nvPr/>
        </p:nvSpPr>
        <p:spPr>
          <a:xfrm>
            <a:off x="678493" y="840288"/>
            <a:ext cx="1129430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Example Flow (Typical .NET Web Application)</a:t>
            </a:r>
          </a:p>
          <a:p>
            <a:endParaRPr lang="en-US" b="1" dirty="0"/>
          </a:p>
          <a:p>
            <a:pPr marL="228600" indent="-228600">
              <a:buFont typeface=""/>
              <a:buAutoNum type="arabicPeriod"/>
            </a:pPr>
            <a:r>
              <a:rPr lang="en-US" dirty="0"/>
              <a:t>User sends request (UI – Angular / MVC / React)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Controller receives request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Service layer handles business logic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Repository layer interacts with DB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Database returns data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Response mapped to DTO</a:t>
            </a:r>
          </a:p>
          <a:p>
            <a:pPr marL="228600" indent="-228600">
              <a:buFont typeface=""/>
              <a:buAutoNum type="arabicPeriod"/>
            </a:pPr>
            <a:r>
              <a:rPr lang="en-US" dirty="0"/>
              <a:t>Sent back to UI</a:t>
            </a:r>
          </a:p>
          <a:p>
            <a:pPr marL="228600" indent="-228600">
              <a:buAutoNum type="arabicPeriod"/>
            </a:pPr>
            <a:endParaRPr lang="en-US" dirty="0"/>
          </a:p>
          <a:p>
            <a:r>
              <a:rPr lang="en-US" dirty="0"/>
              <a:t>🎤 Interview Line:</a:t>
            </a:r>
          </a:p>
          <a:p>
            <a:pPr lvl="1">
              <a:buFont typeface=""/>
              <a:buNone/>
            </a:pPr>
            <a:r>
              <a:rPr lang="en-US" dirty="0"/>
              <a:t>"The request flows from presentation layer to service layer, then repository, and finally to SQL Server, maintaining separation of concerns."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2612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2A2F-59D4-071F-0592-46B7DD6E8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29B89-9464-2851-02A6-DE9D688B9F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FC601-26F8-9E9E-4C37-D48D6BE841B1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Layered Architecture Explanation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3944AD-9194-0F35-87C5-429FC3617FAF}"/>
              </a:ext>
            </a:extLst>
          </p:cNvPr>
          <p:cNvSpPr txBox="1"/>
          <p:nvPr/>
        </p:nvSpPr>
        <p:spPr>
          <a:xfrm>
            <a:off x="866384" y="1017740"/>
            <a:ext cx="9519779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Typical Layers</a:t>
            </a:r>
          </a:p>
          <a:p>
            <a:endParaRPr lang="en-US" b="1" dirty="0"/>
          </a:p>
          <a:p>
            <a:r>
              <a:rPr lang="en-US" dirty="0"/>
              <a:t>• Presentation Layer (UI / Controllers) </a:t>
            </a:r>
          </a:p>
          <a:p>
            <a:r>
              <a:rPr lang="en-US" dirty="0"/>
              <a:t>• Business Layer (Services) </a:t>
            </a:r>
          </a:p>
          <a:p>
            <a:r>
              <a:rPr lang="en-US" dirty="0"/>
              <a:t>• Data Access Layer (Repository / EF / ADO.NET) </a:t>
            </a:r>
          </a:p>
          <a:p>
            <a:r>
              <a:rPr lang="en-US" dirty="0"/>
              <a:t>• Database Layer (SQL Server)</a:t>
            </a:r>
          </a:p>
          <a:p>
            <a:endParaRPr lang="en-US" dirty="0"/>
          </a:p>
          <a:p>
            <a:r>
              <a:rPr lang="en-US" b="1" dirty="0"/>
              <a:t>Why Layered Architecture?</a:t>
            </a:r>
          </a:p>
          <a:p>
            <a:r>
              <a:rPr lang="en-US" dirty="0"/>
              <a:t>✔ Separation of concerns ✔ Testability ✔ Maintainability ✔ Scalability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🎤 Interview Line:</a:t>
            </a:r>
          </a:p>
          <a:p>
            <a:pPr lvl="1">
              <a:buFont typeface=""/>
              <a:buNone/>
            </a:pPr>
            <a:r>
              <a:rPr lang="en-US" dirty="0"/>
              <a:t>"We followed clean layered architecture to keep business logic independent from UI and database logic."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5274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D7C79-5CFA-5B89-97DC-B286A1F91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58665-DE10-7D4C-7318-F8F2955DB4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DD3A00-DBA2-F82D-1132-1CC9E70B6B5D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ADO.NET vs Entity Framework</a:t>
            </a:r>
            <a:endParaRPr lang="en-US" b="1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D1F5DE-94D0-F9ED-E787-DC44221CD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08" y="986816"/>
            <a:ext cx="8867775" cy="2838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976931-45F5-CCB2-CEFE-FC4D57721AB8}"/>
              </a:ext>
            </a:extLst>
          </p:cNvPr>
          <p:cNvSpPr txBox="1"/>
          <p:nvPr/>
        </p:nvSpPr>
        <p:spPr>
          <a:xfrm>
            <a:off x="1116904" y="4347575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🎤 </a:t>
            </a:r>
            <a:r>
              <a:rPr lang="en-US" b="1" dirty="0"/>
              <a:t>When I Used ADO.NET: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Performance-critical queries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Bulk operations</a:t>
            </a:r>
          </a:p>
          <a:p>
            <a:endParaRPr lang="en-US" dirty="0"/>
          </a:p>
          <a:p>
            <a:r>
              <a:rPr lang="en-US" dirty="0"/>
              <a:t>🎤 </a:t>
            </a:r>
            <a:r>
              <a:rPr lang="en-US" b="1" dirty="0"/>
              <a:t>When I Used EF: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Rapid development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Standard CRUD operations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728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E5357-C523-985C-06CA-6C94346A2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52D57-5570-25AD-0774-DCA1D3B1AE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D06167-BEF1-7926-5C3A-D105DF0BD622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Code First vs DB First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BB0D26-5FF0-18FE-2C3D-8BB8F3F4560B}"/>
              </a:ext>
            </a:extLst>
          </p:cNvPr>
          <p:cNvSpPr txBox="1"/>
          <p:nvPr/>
        </p:nvSpPr>
        <p:spPr>
          <a:xfrm>
            <a:off x="981205" y="1049055"/>
            <a:ext cx="10271341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Code First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Models defined in C#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DB generated via migrations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Good for new projects</a:t>
            </a:r>
          </a:p>
          <a:p>
            <a:endParaRPr lang="en-US" dirty="0"/>
          </a:p>
          <a:p>
            <a:r>
              <a:rPr lang="en-US" b="1" dirty="0"/>
              <a:t>DB First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Database already exists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Generate models from DB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Good for legacy systems</a:t>
            </a:r>
          </a:p>
          <a:p>
            <a:endParaRPr lang="en-US" dirty="0"/>
          </a:p>
          <a:p>
            <a:r>
              <a:rPr lang="en-US" dirty="0"/>
              <a:t>🎤 Interview Line:</a:t>
            </a:r>
          </a:p>
          <a:p>
            <a:pPr lvl="1">
              <a:buFont typeface=""/>
              <a:buNone/>
            </a:pPr>
            <a:r>
              <a:rPr lang="en-US" dirty="0"/>
              <a:t>"In greenfield projects, I prefer Code First. In legacy enterprise systems, DB First is more practical."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4498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FF04D-694E-2CB6-C6BA-86F80FED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C4FE8-09BD-8293-4893-3EA9C358F4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AE6F5-7401-40B5-D772-9EB6D56E701B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Lazy Loading – Real Problems &amp; Fixes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56DB1-2BC6-3070-0AB4-5A589086C2CB}"/>
              </a:ext>
            </a:extLst>
          </p:cNvPr>
          <p:cNvSpPr txBox="1"/>
          <p:nvPr/>
        </p:nvSpPr>
        <p:spPr>
          <a:xfrm>
            <a:off x="918575" y="1174315"/>
            <a:ext cx="934232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What is Lazy Loading?</a:t>
            </a:r>
          </a:p>
          <a:p>
            <a:r>
              <a:rPr lang="en-US" dirty="0"/>
              <a:t>Related data is loaded only when accessed.</a:t>
            </a:r>
          </a:p>
          <a:p>
            <a:endParaRPr lang="en-US" dirty="0"/>
          </a:p>
          <a:p>
            <a:r>
              <a:rPr lang="en-US" b="1" dirty="0"/>
              <a:t>Real Problem (N+1 Issue)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Multiple DB calls inside loops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Performance degradation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r>
              <a:rPr lang="en-US" b="1" dirty="0"/>
              <a:t>Fixes</a:t>
            </a:r>
          </a:p>
          <a:p>
            <a:r>
              <a:rPr lang="en-US" dirty="0"/>
              <a:t>✔ Use Include() for eager loading ✔ Use projection (Select DTO) ✔ Disable lazy loading when not required</a:t>
            </a:r>
          </a:p>
          <a:p>
            <a:endParaRPr lang="en-US" dirty="0"/>
          </a:p>
          <a:p>
            <a:r>
              <a:rPr lang="en-US" dirty="0"/>
              <a:t>🎤 Interview Line:</a:t>
            </a:r>
          </a:p>
          <a:p>
            <a:pPr lvl="1">
              <a:buFont typeface=""/>
              <a:buNone/>
            </a:pPr>
            <a:r>
              <a:rPr lang="en-US" dirty="0"/>
              <a:t>"We identified N+1 query issues using SQL profiler and optimized using eager loading."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9172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F377C-22E3-BECE-39EA-1B9E2C35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D968F-4F3F-6FE1-D5D5-889C7D99E8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866D7-4087-D89C-3EA0-1F8A5816B497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How I Improved Performance in My Project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349B6-434A-818A-61C6-789B8F3FD15D}"/>
              </a:ext>
            </a:extLst>
          </p:cNvPr>
          <p:cNvSpPr txBox="1"/>
          <p:nvPr/>
        </p:nvSpPr>
        <p:spPr>
          <a:xfrm>
            <a:off x="793315" y="996863"/>
            <a:ext cx="9018738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Examples You Can Mention:</a:t>
            </a:r>
          </a:p>
          <a:p>
            <a:r>
              <a:rPr lang="en-US" dirty="0"/>
              <a:t>✔ Added indexes on frequently filtered columns </a:t>
            </a:r>
          </a:p>
          <a:p>
            <a:r>
              <a:rPr lang="en-US" dirty="0"/>
              <a:t>✔ Replaced nested queries with optimized joins </a:t>
            </a:r>
            <a:endParaRPr lang="en-US"/>
          </a:p>
          <a:p>
            <a:r>
              <a:rPr lang="en-US" dirty="0"/>
              <a:t>✔ Converted LINQ queries to stored procedures </a:t>
            </a:r>
          </a:p>
          <a:p>
            <a:r>
              <a:rPr lang="en-US" dirty="0"/>
              <a:t>✔ Reduced API response size using DTO projection </a:t>
            </a:r>
            <a:endParaRPr lang="en-US"/>
          </a:p>
          <a:p>
            <a:r>
              <a:rPr lang="en-US" dirty="0"/>
              <a:t>✔ Implemented caching for static data </a:t>
            </a:r>
          </a:p>
          <a:p>
            <a:r>
              <a:rPr lang="en-US" dirty="0"/>
              <a:t>✔ Used async/await for scalability </a:t>
            </a:r>
            <a:endParaRPr lang="en-US"/>
          </a:p>
          <a:p>
            <a:r>
              <a:rPr lang="en-US" dirty="0"/>
              <a:t>✔ Optimized pagination queries</a:t>
            </a:r>
          </a:p>
          <a:p>
            <a:endParaRPr lang="en-US" dirty="0"/>
          </a:p>
          <a:p>
            <a:r>
              <a:rPr lang="en-US" dirty="0"/>
              <a:t>🎤 Strong Statement:</a:t>
            </a:r>
          </a:p>
          <a:p>
            <a:pPr lvl="1">
              <a:buFont typeface=""/>
              <a:buNone/>
            </a:pPr>
            <a:r>
              <a:rPr lang="en-US" dirty="0"/>
              <a:t>"Performance improvement was achieved by analyzing slow queries and optimizing both database indexing and application-level query design."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539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9A81F-EFCF-B480-A09F-9AAF10AD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49AA7-8B4F-6B11-4643-E45D8DE37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D9E80-EF79-E032-4034-1AFC54B37FD3}"/>
              </a:ext>
            </a:extLst>
          </p:cNvPr>
          <p:cNvSpPr txBox="1"/>
          <p:nvPr/>
        </p:nvSpPr>
        <p:spPr>
          <a:xfrm>
            <a:off x="678203" y="240036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Turning Experience into Strong Answers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E2EDF8-20CB-8D33-6089-2EB68781CE2E}"/>
              </a:ext>
            </a:extLst>
          </p:cNvPr>
          <p:cNvSpPr txBox="1"/>
          <p:nvPr/>
        </p:nvSpPr>
        <p:spPr>
          <a:xfrm>
            <a:off x="772438" y="1403959"/>
            <a:ext cx="964504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Instead of saying: ❌ "I worked on backend development."</a:t>
            </a:r>
          </a:p>
          <a:p>
            <a:endParaRPr lang="en-US" dirty="0"/>
          </a:p>
          <a:p>
            <a:r>
              <a:rPr lang="en-US" dirty="0"/>
              <a:t>Say: ✔ "I designed REST APIs, optimized SQL queries, implemented layered architecture, and improved response time by 30% through indexing and query tuning."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3838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E087E-D861-D60C-A7EC-5EDCE8FE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850F5-3E5F-A035-35D7-EF40411264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12DB7-AA7A-0B29-35D7-F22F5D6E40AA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Final 1-Minute Powerful Project Summary</a:t>
            </a:r>
            <a:endParaRPr lang="en-US" b="1" dirty="0"/>
          </a:p>
        </p:txBody>
      </p:sp>
      <p:pic>
        <p:nvPicPr>
          <p:cNvPr id="2" name="Picture 1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7C97D017-18DD-A1E9-D901-99E7488FD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05" y="1256844"/>
            <a:ext cx="90297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8296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75C2B-73F2-E2C9-5E5F-9CDD4D1AA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2731-ABD9-637A-D1FC-E4983A3C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10800000" flipV="1">
            <a:off x="903878" y="2536812"/>
            <a:ext cx="10416394" cy="49649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0" dirty="0">
                <a:ea typeface="+mj-lt"/>
                <a:cs typeface="+mj-lt"/>
              </a:rPr>
              <a:t>🟦 Day 10– </a:t>
            </a:r>
            <a:r>
              <a:rPr lang="en-US" sz="1800" dirty="0">
                <a:solidFill>
                  <a:schemeClr val="bg1"/>
                </a:solidFill>
                <a:latin typeface="Aptos Light"/>
                <a:ea typeface="+mj-lt"/>
                <a:cs typeface="+mj-lt"/>
              </a:rPr>
              <a:t>Mock Interview</a:t>
            </a:r>
            <a:endParaRPr lang="en-US" dirty="0"/>
          </a:p>
          <a:p>
            <a:endParaRPr lang="en-US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15211400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48CD1-419E-D36A-9B98-26948F1D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5BE36-2E14-0597-C333-69A2C0169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3B052-072E-0466-6770-C6A0CE3E80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endParaRPr lang="en-US" dirty="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40727-CB5F-67A9-87E9-487988C554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98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129722-6791-C651-1650-B74A7E042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647536"/>
              </p:ext>
            </p:extLst>
          </p:nvPr>
        </p:nvGraphicFramePr>
        <p:xfrm>
          <a:off x="3382027" y="511479"/>
          <a:ext cx="7292409" cy="447061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292409">
                  <a:extLst>
                    <a:ext uri="{9D8B030D-6E8A-4147-A177-3AD203B41FA5}">
                      <a16:colId xmlns:a16="http://schemas.microsoft.com/office/drawing/2014/main" val="3975820946"/>
                    </a:ext>
                  </a:extLst>
                </a:gridCol>
              </a:tblGrid>
              <a:tr h="447061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effectLst/>
                        </a:rPr>
                        <a:t>Day 10</a:t>
                      </a:r>
                      <a:r>
                        <a:rPr lang="en-US" sz="1800" b="1" i="0" u="none" strike="noStrike" noProof="0">
                          <a:effectLst/>
                          <a:latin typeface="Aptos Light"/>
                        </a:rPr>
                        <a:t>– </a:t>
                      </a:r>
                      <a:r>
                        <a:rPr lang="en-US" sz="1800" b="0" i="0" u="none" strike="noStrike" noProof="0">
                          <a:effectLst/>
                        </a:rPr>
                        <a:t>Full Mock Interviews</a:t>
                      </a:r>
                      <a:endParaRPr lang="en-US" sz="1800" b="0" i="0" u="none" strike="noStrike" noProof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/>
                        <a:t>Middleware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Exactly like a real interview: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C# fundamentals rapid-fire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effectLst/>
                        </a:rPr>
                        <a:t>SQL live query round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noProof="0" dirty="0">
                        <a:effectLst/>
                        <a:latin typeface="Aptos Ligh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035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3357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3579C-CD1B-9212-B17B-D9BFB88E0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A74F8-A062-D703-2825-EB8EB10660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C8B0C-7685-44C8-67EA-5D2E024A69E0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What is Middleware in .NET Core?</a:t>
            </a:r>
            <a:endParaRPr lang="en-US" b="1"/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93E429C-8F30-30D0-190C-0823B1245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62" y="1013761"/>
            <a:ext cx="9210675" cy="1114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A10BA2-27E3-A9AA-1D50-4BCB0063ACB4}"/>
              </a:ext>
            </a:extLst>
          </p:cNvPr>
          <p:cNvSpPr txBox="1"/>
          <p:nvPr/>
        </p:nvSpPr>
        <p:spPr>
          <a:xfrm>
            <a:off x="926007" y="2556302"/>
            <a:ext cx="44083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How Middleware 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951BF-B663-E8A7-62F2-362055FFCCE0}"/>
              </a:ext>
            </a:extLst>
          </p:cNvPr>
          <p:cNvSpPr txBox="1"/>
          <p:nvPr/>
        </p:nvSpPr>
        <p:spPr>
          <a:xfrm>
            <a:off x="929014" y="3209795"/>
            <a:ext cx="1112728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Request Flow:</a:t>
            </a:r>
          </a:p>
          <a:p>
            <a:r>
              <a:rPr lang="en-US"/>
              <a:t>Client → Middleware 1 → Middleware 2 → Middleware 3 → Controller → Response → Middleware 3 → Middleware 2 → Middleware 1 → Client</a:t>
            </a:r>
          </a:p>
          <a:p>
            <a:r>
              <a:rPr lang="en-US"/>
              <a:t>It works like a chain.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1031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CFDCD-0E01-9A39-C046-886796D62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77543-6FF2-4085-DCDB-AAF10088EB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8933BF-82F6-4FF8-BC4F-71F87561E7A7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Where Is It Configured?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7B243C-B58C-E813-7914-C716EB518F7E}"/>
              </a:ext>
            </a:extLst>
          </p:cNvPr>
          <p:cNvSpPr txBox="1"/>
          <p:nvPr/>
        </p:nvSpPr>
        <p:spPr>
          <a:xfrm>
            <a:off x="855945" y="89247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 ASP.NET Core 6+ it’s configured in Program.cs.</a:t>
            </a:r>
          </a:p>
          <a:p>
            <a:pPr algn="ctr"/>
            <a:endParaRPr lang="en-US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37EAC53-2F40-CA44-5ED1-504435827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74" y="1536526"/>
            <a:ext cx="69056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2079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9B24F-7A60-BC07-EDBE-C2B7543EE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8B01E-1632-5103-183A-E393ACDE9B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101</a:t>
            </a:fld>
            <a:endParaRPr lang="en-US" dirty="0"/>
          </a:p>
        </p:txBody>
      </p: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9E98A76-0D59-7F4A-EE03-A0AD2114D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18" y="4502"/>
            <a:ext cx="9286875" cy="4448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46F7FB-94E1-988F-DDD9-9395EC9EDF73}"/>
              </a:ext>
            </a:extLst>
          </p:cNvPr>
          <p:cNvSpPr txBox="1"/>
          <p:nvPr/>
        </p:nvSpPr>
        <p:spPr>
          <a:xfrm>
            <a:off x="814192" y="4785986"/>
            <a:ext cx="919619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Use() </a:t>
            </a:r>
            <a:r>
              <a:rPr lang="en-US"/>
              <a:t>processes request and passes control to next middleware.</a:t>
            </a:r>
            <a:br>
              <a:rPr lang="en-US" dirty="0"/>
            </a:br>
            <a:r>
              <a:rPr lang="en-US" b="1"/>
              <a:t>Run()</a:t>
            </a:r>
            <a:r>
              <a:rPr lang="en-US"/>
              <a:t> terminates the pipeline.</a:t>
            </a:r>
            <a:br>
              <a:rPr lang="en-US" dirty="0"/>
            </a:br>
            <a:r>
              <a:rPr lang="en-US" b="1"/>
              <a:t>Map() </a:t>
            </a:r>
            <a:r>
              <a:rPr lang="en-US"/>
              <a:t>branches the pipeline based on request path.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270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33331-3B92-3BF9-8419-28AD280C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11C5F-61E2-9370-3738-4CD50BF533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22A9F1-2562-54E8-89C1-69E937E41CE8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Title Slide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CF3D4-F634-AF3E-AC46-FB8F52CCED6B}"/>
              </a:ext>
            </a:extLst>
          </p:cNvPr>
          <p:cNvSpPr txBox="1"/>
          <p:nvPr/>
        </p:nvSpPr>
        <p:spPr>
          <a:xfrm>
            <a:off x="866384" y="1122123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Full Mock Interview Session</a:t>
            </a:r>
            <a:br>
              <a:rPr lang="en-US"/>
            </a:br>
            <a:r>
              <a:rPr lang="en-US"/>
              <a:t>C# | SQL | .NET</a:t>
            </a:r>
            <a:br>
              <a:rPr lang="en-US"/>
            </a:br>
            <a:r>
              <a:rPr lang="en-US"/>
              <a:t>Real Interview Simulation</a:t>
            </a:r>
          </a:p>
          <a:p>
            <a:r>
              <a:rPr lang="en-US"/>
              <a:t>By: </a:t>
            </a:r>
            <a:r>
              <a:rPr lang="en-US" i="1"/>
              <a:t>Remya</a:t>
            </a:r>
            <a:br>
              <a:rPr lang="en-US"/>
            </a:br>
            <a:r>
              <a:rPr lang="en-US"/>
              <a:t>Senior .NET Developer – IBM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61DF9-CE88-0377-52FD-E68DAA99B0EA}"/>
              </a:ext>
            </a:extLst>
          </p:cNvPr>
          <p:cNvSpPr txBox="1"/>
          <p:nvPr/>
        </p:nvSpPr>
        <p:spPr>
          <a:xfrm>
            <a:off x="834710" y="2986700"/>
            <a:ext cx="52821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/>
              <a:t>Session 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9CC57-3D5D-0EFE-6279-7540A7359C57}"/>
              </a:ext>
            </a:extLst>
          </p:cNvPr>
          <p:cNvSpPr txBox="1"/>
          <p:nvPr/>
        </p:nvSpPr>
        <p:spPr>
          <a:xfrm>
            <a:off x="960329" y="3637767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Real Interview Rules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C# Rapid-Fire Round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SQL Live Query Round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Project Discussion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Feedback &amp; Improvement Areas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668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421A2-18A7-3B12-59B6-CE6DB299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E53C1-EC39-8A28-25F7-A341D35CC5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C11829-37BC-1854-3A76-B127F2461B0F}"/>
              </a:ext>
            </a:extLst>
          </p:cNvPr>
          <p:cNvSpPr txBox="1"/>
          <p:nvPr/>
        </p:nvSpPr>
        <p:spPr>
          <a:xfrm>
            <a:off x="873838" y="665160"/>
            <a:ext cx="42257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Project Round</a:t>
            </a:r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A455D-ED72-E97D-4372-BB1F9785D81E}"/>
              </a:ext>
            </a:extLst>
          </p:cNvPr>
          <p:cNvSpPr txBox="1"/>
          <p:nvPr/>
        </p:nvSpPr>
        <p:spPr>
          <a:xfrm>
            <a:off x="876822" y="1393521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Ask each student: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Explain your project architecture.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was your role?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Biggest challenge?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How did you optimize database?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Any production issue?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4672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39772-A56C-1338-DA42-18F5E825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8DF57-F0A4-E42C-E109-A7CB6FA8CC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911578-0BFE-447D-F774-4E3D61271350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Interview Rules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5125A9-F563-E3FC-43B1-D5F99D91090D}"/>
              </a:ext>
            </a:extLst>
          </p:cNvPr>
          <p:cNvSpPr txBox="1"/>
          <p:nvPr/>
        </p:nvSpPr>
        <p:spPr>
          <a:xfrm>
            <a:off x="730685" y="1101247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Answer clearly and confidently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No long storytelling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If you don’t know → say honestly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Think before answering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Real-time evaluation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3BAE15-2CCD-40B9-495F-D54D8C806BC7}"/>
              </a:ext>
            </a:extLst>
          </p:cNvPr>
          <p:cNvSpPr txBox="1"/>
          <p:nvPr/>
        </p:nvSpPr>
        <p:spPr>
          <a:xfrm>
            <a:off x="727768" y="2853628"/>
            <a:ext cx="37301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C# Rapid Fire (Round 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13DBF-15F2-F551-68D3-EACA88033020}"/>
              </a:ext>
            </a:extLst>
          </p:cNvPr>
          <p:cNvSpPr txBox="1"/>
          <p:nvPr/>
        </p:nvSpPr>
        <p:spPr>
          <a:xfrm>
            <a:off x="730685" y="3689959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What is CLR?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Value type vs Reference type?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Difference between abstract class and interface?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is boxing and unboxing?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is the difference between IEnumerable and IQueryable?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8173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18A4-1EFB-49A1-829F-8A5AA167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A9757-BEA6-5B46-36AB-6CF49BBF54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793A1-8662-F1CB-A820-242D8E634585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C# Rapid Fire (Round 2 – Slightly Advanced)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F7A5B-9FE5-B66B-FB1D-1FB418944EF0}"/>
              </a:ext>
            </a:extLst>
          </p:cNvPr>
          <p:cNvSpPr txBox="1"/>
          <p:nvPr/>
        </p:nvSpPr>
        <p:spPr>
          <a:xfrm>
            <a:off x="908137" y="965548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What is dependency injection?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What is garbage collection?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B0DAA-EE22-5B95-1FB4-5BEFE913B827}"/>
              </a:ext>
            </a:extLst>
          </p:cNvPr>
          <p:cNvSpPr txBox="1"/>
          <p:nvPr/>
        </p:nvSpPr>
        <p:spPr>
          <a:xfrm>
            <a:off x="704287" y="2478047"/>
            <a:ext cx="4864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Scenario-Based Questions</a:t>
            </a:r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EA049-3C9D-4848-3371-4F209F4CB428}"/>
              </a:ext>
            </a:extLst>
          </p:cNvPr>
          <p:cNvSpPr txBox="1"/>
          <p:nvPr/>
        </p:nvSpPr>
        <p:spPr>
          <a:xfrm>
            <a:off x="908137" y="3074096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How do you handle global exception handling?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How do you optimize Application performance?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How to avoid memory leaks?</a:t>
            </a:r>
          </a:p>
          <a:p>
            <a:pPr marL="228600" indent="-228600">
              <a:buFont typeface=""/>
              <a:buChar char="•"/>
            </a:pPr>
            <a:r>
              <a:rPr lang="en-US"/>
              <a:t>Explain a production issue you solved.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5714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A818F-A7CB-A123-E96A-FE050964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23297-D6C3-4908-19B4-41BA90BDC5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95FC0-AFAE-6BB3-D6C8-DA3A0732C099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SQL Query Round 1</a:t>
            </a:r>
            <a:endParaRPr lang="en-US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0E3BA-6849-5B48-7E6C-2360D25355BE}"/>
              </a:ext>
            </a:extLst>
          </p:cNvPr>
          <p:cNvSpPr txBox="1"/>
          <p:nvPr/>
        </p:nvSpPr>
        <p:spPr>
          <a:xfrm>
            <a:off x="1022959" y="756781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Table: Employee</a:t>
            </a:r>
          </a:p>
          <a:p>
            <a:r>
              <a:rPr lang="en-US"/>
              <a:t>| Id | Name | Salary | JobId |</a:t>
            </a:r>
          </a:p>
          <a:p>
            <a:endParaRPr lang="en-US" dirty="0"/>
          </a:p>
          <a:p>
            <a:r>
              <a:rPr lang="en-US"/>
              <a:t>Questions: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Find 2nd highest salary.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Find duplicate records.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Count employees department-wise.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Find employees earning above average salary.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F501D0-C132-8C73-5FF8-C0FF3515BF4C}"/>
              </a:ext>
            </a:extLst>
          </p:cNvPr>
          <p:cNvSpPr txBox="1"/>
          <p:nvPr/>
        </p:nvSpPr>
        <p:spPr>
          <a:xfrm>
            <a:off x="730372" y="3404056"/>
            <a:ext cx="56212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SQL Query Round 2 (Joins)</a:t>
            </a:r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E79713-8BBA-3668-4A3F-7DBF0404F4BD}"/>
              </a:ext>
            </a:extLst>
          </p:cNvPr>
          <p:cNvSpPr txBox="1"/>
          <p:nvPr/>
        </p:nvSpPr>
        <p:spPr>
          <a:xfrm>
            <a:off x="1022959" y="4201438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Tables: Orders &amp; Customers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Get all customers with orders.</a:t>
            </a:r>
          </a:p>
          <a:p>
            <a:pPr marL="228600" indent="-228600">
              <a:buFont typeface=""/>
              <a:buAutoNum type="arabicPeriod"/>
            </a:pPr>
            <a:r>
              <a:rPr lang="en-US"/>
              <a:t>Get customers with no orders.</a:t>
            </a:r>
          </a:p>
          <a:p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7575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7D30-254D-916C-50F3-F85706F7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FD069-6C86-3C13-213D-D6F9E34156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E6E771FB-B464-F7C3-C15E-1C08E2B452D2}"/>
              </a:ext>
            </a:extLst>
          </p:cNvPr>
          <p:cNvSpPr txBox="1"/>
          <p:nvPr/>
        </p:nvSpPr>
        <p:spPr>
          <a:xfrm>
            <a:off x="834711" y="350758"/>
            <a:ext cx="3351886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lt"/>
                <a:cs typeface="+mn-lt"/>
              </a:rPr>
              <a:t>Evaluation Criteria</a:t>
            </a:r>
            <a:endParaRPr lang="en-US" b="1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D22E0548-399F-CA2A-FB7B-4BA6CEC0EDE7}"/>
              </a:ext>
            </a:extLst>
          </p:cNvPr>
          <p:cNvSpPr txBox="1"/>
          <p:nvPr/>
        </p:nvSpPr>
        <p:spPr>
          <a:xfrm>
            <a:off x="876822" y="1007301"/>
            <a:ext cx="6096000" cy="175432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"/>
              <a:buChar char="•"/>
            </a:pPr>
            <a:r>
              <a:rPr lang="en-US"/>
              <a:t>Technical clarity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Communication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Confidence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Practical examples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Problem-solving ability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2FD709-90F7-7D05-1973-BF0F598F9C80}"/>
              </a:ext>
            </a:extLst>
          </p:cNvPr>
          <p:cNvSpPr txBox="1"/>
          <p:nvPr/>
        </p:nvSpPr>
        <p:spPr>
          <a:xfrm>
            <a:off x="860795" y="2817149"/>
            <a:ext cx="40040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Final Feedback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D1FD5-0AFF-119E-3014-4418D6EF17DB}"/>
              </a:ext>
            </a:extLst>
          </p:cNvPr>
          <p:cNvSpPr txBox="1"/>
          <p:nvPr/>
        </p:nvSpPr>
        <p:spPr>
          <a:xfrm>
            <a:off x="876822" y="3585575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Strengths: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Improvement areas:</a:t>
            </a:r>
          </a:p>
          <a:p>
            <a:pPr marL="228600" indent="-228600">
              <a:buFont typeface=""/>
              <a:buChar char="•"/>
            </a:pPr>
            <a:r>
              <a:rPr lang="en-US"/>
              <a:t>Next 30-day action plan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8CB6B7-D24B-06C6-AAB5-D274D34A07FF}"/>
              </a:ext>
            </a:extLst>
          </p:cNvPr>
          <p:cNvSpPr txBox="1"/>
          <p:nvPr/>
        </p:nvSpPr>
        <p:spPr>
          <a:xfrm>
            <a:off x="5668027" y="2113767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🚀 Bonus (Professional Touch)</a:t>
            </a:r>
          </a:p>
          <a:p>
            <a:r>
              <a:rPr lang="en-US"/>
              <a:t>End with:</a:t>
            </a:r>
          </a:p>
          <a:p>
            <a:pPr lvl="1">
              <a:buFont typeface=""/>
              <a:buNone/>
            </a:pPr>
            <a:r>
              <a:rPr lang="en-US"/>
              <a:t>“Interviews don’t reject people for lack of knowledge.</a:t>
            </a:r>
            <a:br>
              <a:rPr lang="en-US"/>
            </a:br>
            <a:r>
              <a:rPr lang="en-US"/>
              <a:t>They reject people for lack of clarity.”</a:t>
            </a:r>
          </a:p>
          <a:p>
            <a:r>
              <a:rPr lang="en-US"/>
              <a:t>This gives impact.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9965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027D16-8477-9439-2912-A02011AD8A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REMYA MOHAN</a:t>
            </a:r>
          </a:p>
          <a:p>
            <a:r>
              <a:rPr lang="en-US" sz="1600" b="0">
                <a:ea typeface="+mj-lt"/>
                <a:cs typeface="+mj-lt"/>
              </a:rPr>
              <a:t>Mentor-Led Interview Trainer</a:t>
            </a:r>
            <a:endParaRPr lang="en-US" sz="1600"/>
          </a:p>
          <a:p>
            <a:r>
              <a:rPr lang="en-US" sz="1400" b="0">
                <a:ea typeface="+mj-lt"/>
                <a:cs typeface="+mj-lt"/>
              </a:rPr>
              <a:t>.NET | C# | SQL</a:t>
            </a:r>
            <a:r>
              <a:rPr lang="en-US" dirty="0"/>
              <a:t> </a:t>
            </a:r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2D2BE-237B-BC64-AC3C-52CD0C76D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74509-7975-AC2A-B653-3CFA4B65D1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C490F-A0C1-CCEA-7816-5634E71135D1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What is Middleware in .NET Core?</a:t>
            </a:r>
            <a:endParaRPr lang="en-US" b="1"/>
          </a:p>
        </p:txBody>
      </p:sp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86F155D-9F38-AEBA-4FA0-7C20C65AA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62" y="1013761"/>
            <a:ext cx="9210675" cy="1114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8A6967-56B5-7208-F0E5-79A38D64AB27}"/>
              </a:ext>
            </a:extLst>
          </p:cNvPr>
          <p:cNvSpPr txBox="1"/>
          <p:nvPr/>
        </p:nvSpPr>
        <p:spPr>
          <a:xfrm>
            <a:off x="926007" y="2556302"/>
            <a:ext cx="44083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How Middleware 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4408C1-CE2F-0B2C-01A4-972380635FA6}"/>
              </a:ext>
            </a:extLst>
          </p:cNvPr>
          <p:cNvSpPr txBox="1"/>
          <p:nvPr/>
        </p:nvSpPr>
        <p:spPr>
          <a:xfrm>
            <a:off x="929014" y="3209795"/>
            <a:ext cx="1112728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Request Flow:</a:t>
            </a:r>
          </a:p>
          <a:p>
            <a:r>
              <a:rPr lang="en-US"/>
              <a:t>Client → Middleware 1 → Middleware 2 → Middleware 3 → Controller → Response → Middleware 3 → Middleware 2 → Middleware 1 → Client</a:t>
            </a:r>
          </a:p>
          <a:p>
            <a:r>
              <a:rPr lang="en-US"/>
              <a:t>It works like a chain.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0066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81838-3320-DC02-BCA0-4ADA1B503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56C43-0C5C-8045-850F-3F167D0B02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D7612-121B-2EB1-FACF-DA6371126BEB}"/>
              </a:ext>
            </a:extLst>
          </p:cNvPr>
          <p:cNvSpPr txBox="1"/>
          <p:nvPr/>
        </p:nvSpPr>
        <p:spPr>
          <a:xfrm>
            <a:off x="730395" y="146091"/>
            <a:ext cx="46299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Where Is It Configured?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C55859-4836-F44D-9A68-9B3DC57598F4}"/>
              </a:ext>
            </a:extLst>
          </p:cNvPr>
          <p:cNvSpPr txBox="1"/>
          <p:nvPr/>
        </p:nvSpPr>
        <p:spPr>
          <a:xfrm>
            <a:off x="855945" y="89247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 ASP.NET Core 6+ it’s configured in Program.cs.</a:t>
            </a:r>
          </a:p>
          <a:p>
            <a:pPr algn="ctr"/>
            <a:endParaRPr lang="en-US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D28AA50-A8DB-FB3D-5DD5-6AF8B991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74" y="1536526"/>
            <a:ext cx="69056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7516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5207A-3826-CDF6-975F-F7B0BB67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26A76-B399-0B10-D1E0-751F0E725D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111</a:t>
            </a:fld>
            <a:endParaRPr lang="en-US" dirty="0"/>
          </a:p>
        </p:txBody>
      </p: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67422F9-D17E-49F4-3CFD-441E0D2C0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18" y="4502"/>
            <a:ext cx="9286875" cy="4448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730C1-ADEE-24F6-63E3-AAA922D830AC}"/>
              </a:ext>
            </a:extLst>
          </p:cNvPr>
          <p:cNvSpPr txBox="1"/>
          <p:nvPr/>
        </p:nvSpPr>
        <p:spPr>
          <a:xfrm>
            <a:off x="814192" y="4785986"/>
            <a:ext cx="919619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Use() </a:t>
            </a:r>
            <a:r>
              <a:rPr lang="en-US"/>
              <a:t>processes request and passes control to next middleware.</a:t>
            </a:r>
            <a:br>
              <a:rPr lang="en-US" dirty="0"/>
            </a:br>
            <a:r>
              <a:rPr lang="en-US" b="1"/>
              <a:t>Run()</a:t>
            </a:r>
            <a:r>
              <a:rPr lang="en-US"/>
              <a:t> terminates the pipeline.</a:t>
            </a:r>
            <a:br>
              <a:rPr lang="en-US" dirty="0"/>
            </a:br>
            <a:r>
              <a:rPr lang="en-US" b="1"/>
              <a:t>Map() </a:t>
            </a:r>
            <a:r>
              <a:rPr lang="en-US"/>
              <a:t>branches the pipeline based on request path.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3067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4AB61-1E1F-C349-7571-DE855AB9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B269F-1169-AD9A-8F68-E075190E52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8BD23-68BF-B88F-2780-D24426D8BEDF}"/>
              </a:ext>
            </a:extLst>
          </p:cNvPr>
          <p:cNvSpPr txBox="1"/>
          <p:nvPr/>
        </p:nvSpPr>
        <p:spPr>
          <a:xfrm>
            <a:off x="991219" y="469525"/>
            <a:ext cx="59473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Web API Status Codes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2FE61-37DF-F638-C6B8-C86C0717A125}"/>
              </a:ext>
            </a:extLst>
          </p:cNvPr>
          <p:cNvSpPr txBox="1"/>
          <p:nvPr/>
        </p:nvSpPr>
        <p:spPr>
          <a:xfrm>
            <a:off x="1085589" y="1101247"/>
            <a:ext cx="6680547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Commonly Used Codes</a:t>
            </a:r>
          </a:p>
          <a:p>
            <a:r>
              <a:rPr lang="en-US" b="1"/>
              <a:t>✔️ Success (2xx)</a:t>
            </a:r>
          </a:p>
          <a:p>
            <a:pPr>
              <a:buFont typeface=""/>
              <a:buChar char="•"/>
            </a:pPr>
            <a:r>
              <a:rPr lang="en-US" b="1"/>
              <a:t>200 OK</a:t>
            </a:r>
            <a:r>
              <a:rPr lang="en-US"/>
              <a:t> → Request successful (GET/PUT) </a:t>
            </a:r>
          </a:p>
          <a:p>
            <a:pPr>
              <a:buFont typeface=""/>
              <a:buChar char="•"/>
            </a:pPr>
            <a:r>
              <a:rPr lang="en-US" b="1"/>
              <a:t>201 Created</a:t>
            </a:r>
            <a:r>
              <a:rPr lang="en-US"/>
              <a:t> → Resource created (POST, include Location header) </a:t>
            </a:r>
          </a:p>
          <a:p>
            <a:pPr>
              <a:buFont typeface=""/>
              <a:buChar char="•"/>
            </a:pPr>
            <a:r>
              <a:rPr lang="en-US" b="1"/>
              <a:t>204 No Content</a:t>
            </a:r>
            <a:r>
              <a:rPr lang="en-US"/>
              <a:t> → Success, no response body (DELETE) </a:t>
            </a:r>
          </a:p>
          <a:p>
            <a:pPr>
              <a:buFont typeface=""/>
              <a:buChar char="•"/>
            </a:pPr>
            <a:endParaRPr lang="en-US" dirty="0"/>
          </a:p>
          <a:p>
            <a:endParaRPr lang="en-US" dirty="0"/>
          </a:p>
          <a:p>
            <a:r>
              <a:rPr lang="en-US" b="1"/>
              <a:t>⚠️ Client Errors (4xx)</a:t>
            </a:r>
          </a:p>
          <a:p>
            <a:pPr>
              <a:buFont typeface=""/>
              <a:buChar char="•"/>
            </a:pPr>
            <a:r>
              <a:rPr lang="en-US" b="1"/>
              <a:t>400 Bad Request</a:t>
            </a:r>
            <a:r>
              <a:rPr lang="en-US"/>
              <a:t> → Invalid input / validation failure </a:t>
            </a:r>
          </a:p>
          <a:p>
            <a:pPr>
              <a:buFont typeface=""/>
              <a:buChar char="•"/>
            </a:pPr>
            <a:r>
              <a:rPr lang="en-US" b="1"/>
              <a:t>401 Unauthorized</a:t>
            </a:r>
            <a:r>
              <a:rPr lang="en-US"/>
              <a:t> → Not authenticated </a:t>
            </a:r>
          </a:p>
          <a:p>
            <a:pPr>
              <a:buFont typeface=""/>
              <a:buChar char="•"/>
            </a:pPr>
            <a:r>
              <a:rPr lang="en-US" b="1"/>
              <a:t>403 Forbidden</a:t>
            </a:r>
            <a:r>
              <a:rPr lang="en-US"/>
              <a:t> → Authenticated but no permission </a:t>
            </a:r>
          </a:p>
          <a:p>
            <a:pPr>
              <a:buFont typeface=""/>
              <a:buChar char="•"/>
            </a:pPr>
            <a:r>
              <a:rPr lang="en-US" b="1"/>
              <a:t>404 Not Found</a:t>
            </a:r>
            <a:r>
              <a:rPr lang="en-US"/>
              <a:t> → Resource not found </a:t>
            </a:r>
          </a:p>
          <a:p>
            <a:pPr>
              <a:buFont typeface=""/>
              <a:buChar char="•"/>
            </a:pPr>
            <a:r>
              <a:rPr lang="en-US" b="1"/>
              <a:t>409 Conflict</a:t>
            </a:r>
            <a:r>
              <a:rPr lang="en-US"/>
              <a:t> → Duplicate / conflict </a:t>
            </a:r>
          </a:p>
          <a:p>
            <a:pPr>
              <a:buFont typeface=""/>
              <a:buChar char="•"/>
            </a:pPr>
            <a:endParaRPr lang="en-US" dirty="0"/>
          </a:p>
          <a:p>
            <a:pPr>
              <a:buFont typeface=""/>
              <a:buChar char="•"/>
            </a:pPr>
            <a:endParaRPr lang="en-US" dirty="0"/>
          </a:p>
          <a:p>
            <a:r>
              <a:rPr lang="en-US" b="1"/>
              <a:t>🔥 Server Errors (5xx)</a:t>
            </a:r>
          </a:p>
          <a:p>
            <a:pPr>
              <a:buFont typeface=""/>
              <a:buChar char="•"/>
            </a:pPr>
            <a:r>
              <a:rPr lang="en-US" b="1"/>
              <a:t>500 Internal Server Error</a:t>
            </a:r>
            <a:r>
              <a:rPr lang="en-US"/>
              <a:t> → Unexpected failure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2316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C942D-96C0-C7F4-543E-46F0EDA42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E6E71-EF87-A9CB-4A35-61121E40A9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1138813" cy="4479925"/>
          </a:xfrm>
        </p:spPr>
        <p:txBody>
          <a:bodyPr vert="horz" lIns="0" tIns="0" rIns="0" bIns="0" rtlCol="0" anchor="t">
            <a:normAutofit/>
          </a:bodyPr>
          <a:lstStyle/>
          <a:p>
            <a:pPr marL="347345" indent="-347345"/>
            <a:r>
              <a:rPr lang="en-US"/>
              <a:t>🧠 </a:t>
            </a:r>
            <a:r>
              <a:rPr lang="en-US" b="1"/>
              <a:t>One-Line Answer</a:t>
            </a:r>
          </a:p>
          <a:p>
            <a:pPr marL="347345" indent="-347345"/>
            <a:r>
              <a:rPr lang="en-US" sz="2000">
                <a:ea typeface="+mn-lt"/>
                <a:cs typeface="+mn-lt"/>
              </a:rPr>
              <a:t>“I return appropriate HTTP status codes like 200 for success, 201 for creation, 400 for validation errors, 401/403 for auth issues, 404 for not found, and 500 for server errors to make APIs RESTful and meaningful.”</a:t>
            </a:r>
            <a:endParaRPr lang="en-US" sz="2000"/>
          </a:p>
          <a:p>
            <a:pPr marL="347345" indent="-347345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4A226-32B8-08FB-8ABD-F52573F9E3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8049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3DBAA-228B-D937-0099-C2A5E6AAE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3A7C-622E-149B-93DF-90C6E94B3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Async/Await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E5448-9374-6EA7-D6CC-843DB52800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72017-18B4-E4F3-8AAF-028D7BB4D64A}"/>
              </a:ext>
            </a:extLst>
          </p:cNvPr>
          <p:cNvSpPr txBox="1"/>
          <p:nvPr/>
        </p:nvSpPr>
        <p:spPr>
          <a:xfrm>
            <a:off x="2317315" y="1717111"/>
            <a:ext cx="387263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Call async method </a:t>
            </a:r>
          </a:p>
          <a:p>
            <a:r>
              <a:rPr lang="en-US"/>
              <a:t>           ↓</a:t>
            </a:r>
          </a:p>
          <a:p>
            <a:r>
              <a:rPr lang="en-US"/>
              <a:t>Runs until first await </a:t>
            </a:r>
          </a:p>
          <a:p>
            <a:r>
              <a:rPr lang="en-US"/>
              <a:t>               ↓ </a:t>
            </a:r>
          </a:p>
          <a:p>
            <a:r>
              <a:rPr lang="en-US"/>
              <a:t>Returns Task to caller</a:t>
            </a:r>
          </a:p>
          <a:p>
            <a:r>
              <a:rPr lang="en-US"/>
              <a:t>               ↓ </a:t>
            </a:r>
          </a:p>
          <a:p>
            <a:r>
              <a:rPr lang="en-US"/>
              <a:t>Thread released </a:t>
            </a:r>
          </a:p>
          <a:p>
            <a:r>
              <a:rPr lang="en-US"/>
              <a:t>               ↓ </a:t>
            </a:r>
          </a:p>
          <a:p>
            <a:r>
              <a:rPr lang="en-US"/>
              <a:t>Task completes later </a:t>
            </a:r>
          </a:p>
          <a:p>
            <a:r>
              <a:rPr lang="en-US"/>
              <a:t>               ↓ </a:t>
            </a:r>
          </a:p>
          <a:p>
            <a:r>
              <a:rPr lang="en-US"/>
              <a:t>Continuation runs </a:t>
            </a:r>
          </a:p>
          <a:p>
            <a:r>
              <a:rPr lang="en-US"/>
              <a:t>               ↓ </a:t>
            </a:r>
          </a:p>
          <a:p>
            <a:r>
              <a:rPr lang="en-US"/>
              <a:t>Method resumes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2586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3B304-AB2A-A67E-68B7-574E2FD46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169FD-AEA1-CB0F-9961-47AD96872A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96D96-6B01-EF0B-3078-AC69417FD738}"/>
              </a:ext>
            </a:extLst>
          </p:cNvPr>
          <p:cNvSpPr txBox="1"/>
          <p:nvPr/>
        </p:nvSpPr>
        <p:spPr>
          <a:xfrm>
            <a:off x="866384" y="2051139"/>
            <a:ext cx="1044879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🔥 Interview One-Liner</a:t>
            </a:r>
          </a:p>
          <a:p>
            <a:pPr lvl="1">
              <a:buFont typeface=""/>
              <a:buNone/>
            </a:pPr>
            <a:r>
              <a:rPr lang="en-US"/>
              <a:t>“Async/await in C# is implemented using a compiler-generated state machine. When an await is hit, the method pauses, registers a continuation, and returns control without blocking the thread. Once the awaited task completes, the method resumes from where it left off.”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2300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B7F66-6801-6A0F-89E9-43F13904A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3155C-F3EB-22E7-D9DB-747EF4A0E5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116</a:t>
            </a:fld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00FA62-3A1D-BA56-27DC-A287D468B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40" y="397376"/>
            <a:ext cx="8734425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0331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9D58E-EE1F-56B3-3477-DBFF40C1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38093-6204-1907-540A-A1E1E2A5A2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117</a:t>
            </a:fld>
            <a:endParaRPr lang="en-US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93A0B76-5A6A-DF42-371D-BAEAB214E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5" y="-96619"/>
            <a:ext cx="6414500" cy="4733925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9F198BB-B45B-9A1B-0474-FBFD4BDDB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" y="4178409"/>
            <a:ext cx="6407064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94209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52D7-10B3-0137-DD4C-54907948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E9482-B46E-CFAB-EEF9-E12930F8B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118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687B54-5256-345A-F3E4-6A7BA39638EF}"/>
              </a:ext>
            </a:extLst>
          </p:cNvPr>
          <p:cNvSpPr txBox="1"/>
          <p:nvPr/>
        </p:nvSpPr>
        <p:spPr>
          <a:xfrm>
            <a:off x="855945" y="516699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What is routing in Web API?</a:t>
            </a:r>
          </a:p>
          <a:p>
            <a:r>
              <a:rPr lang="en-US"/>
              <a:t>Routing maps HTTP requests to controller actions.</a:t>
            </a:r>
          </a:p>
          <a:p>
            <a:r>
              <a:rPr lang="en-US"/>
              <a:t>Example:</a:t>
            </a:r>
          </a:p>
          <a:p>
            <a:pPr algn="ctr"/>
            <a:endParaRPr lang="en-US"/>
          </a:p>
        </p:txBody>
      </p:sp>
      <p:pic>
        <p:nvPicPr>
          <p:cNvPr id="3" name="Picture 2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642A9205-8910-6407-39D6-00A8804B9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40" y="1718219"/>
            <a:ext cx="4829175" cy="14382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F287D8-7844-3BA3-E4FB-AC3D718FFB4B}"/>
              </a:ext>
            </a:extLst>
          </p:cNvPr>
          <p:cNvSpPr txBox="1"/>
          <p:nvPr/>
        </p:nvSpPr>
        <p:spPr>
          <a:xfrm>
            <a:off x="970767" y="3898726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What is attribute routing?</a:t>
            </a:r>
          </a:p>
          <a:p>
            <a:r>
              <a:rPr lang="en-US" dirty="0"/>
              <a:t>Defining routes using attributes directly on controller/actions.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9003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0B68-DDA5-CAAC-EC6A-8187561F4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A8173-5E92-738D-4B49-D38EB1E3C5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4AC5E-41ED-C158-7C8D-F648F77FEB64}"/>
              </a:ext>
            </a:extLst>
          </p:cNvPr>
          <p:cNvSpPr txBox="1"/>
          <p:nvPr/>
        </p:nvSpPr>
        <p:spPr>
          <a:xfrm>
            <a:off x="814192" y="694151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What is </a:t>
            </a:r>
            <a:r>
              <a:rPr lang="en-US" b="1" dirty="0" err="1"/>
              <a:t>IActionResult</a:t>
            </a:r>
            <a:r>
              <a:rPr lang="en-US" b="1" dirty="0"/>
              <a:t>?</a:t>
            </a:r>
          </a:p>
          <a:p>
            <a:r>
              <a:rPr lang="en-US" dirty="0"/>
              <a:t>It represents the result of an action method in ASP.NET Core.</a:t>
            </a:r>
          </a:p>
          <a:p>
            <a:r>
              <a:rPr lang="en-US"/>
              <a:t>Examples:</a:t>
            </a:r>
          </a:p>
          <a:p>
            <a:pPr>
              <a:buFont typeface=""/>
              <a:buChar char="•"/>
            </a:pPr>
            <a:r>
              <a:rPr lang="en-US"/>
              <a:t>Ok() </a:t>
            </a:r>
          </a:p>
          <a:p>
            <a:pPr>
              <a:buFont typeface=""/>
              <a:buChar char="•"/>
            </a:pPr>
            <a:r>
              <a:rPr lang="en-US" dirty="0" err="1"/>
              <a:t>NotFound</a:t>
            </a:r>
            <a:r>
              <a:rPr lang="en-US" dirty="0"/>
              <a:t>() </a:t>
            </a:r>
          </a:p>
          <a:p>
            <a:pPr>
              <a:buFont typeface=""/>
              <a:buChar char="•"/>
            </a:pPr>
            <a:r>
              <a:rPr lang="en-US" dirty="0" err="1"/>
              <a:t>BadRequest</a:t>
            </a:r>
            <a:r>
              <a:rPr lang="en-US" dirty="0"/>
              <a:t>()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3044C9-205F-1A4B-BF12-14A817CCEE43}"/>
              </a:ext>
            </a:extLst>
          </p:cNvPr>
          <p:cNvSpPr txBox="1"/>
          <p:nvPr/>
        </p:nvSpPr>
        <p:spPr>
          <a:xfrm>
            <a:off x="929014" y="3157602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What is content negotiation?</a:t>
            </a:r>
          </a:p>
          <a:p>
            <a:r>
              <a:rPr lang="en-US"/>
              <a:t>Determines response format (JSON/XML) based on client request headers.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9047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9F852-FC74-9828-FE61-8BD25E2188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120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F19DB-BD75-22B6-1699-F14E7CB375A1}"/>
              </a:ext>
            </a:extLst>
          </p:cNvPr>
          <p:cNvSpPr txBox="1"/>
          <p:nvPr/>
        </p:nvSpPr>
        <p:spPr>
          <a:xfrm>
            <a:off x="814192" y="829849"/>
            <a:ext cx="11054219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What is JWT?</a:t>
            </a:r>
          </a:p>
          <a:p>
            <a:r>
              <a:rPr lang="en-US"/>
              <a:t>JSON Web Token used for secure authentication.</a:t>
            </a:r>
          </a:p>
          <a:p>
            <a:r>
              <a:rPr lang="en-US"/>
              <a:t>Structure:</a:t>
            </a:r>
          </a:p>
          <a:p>
            <a:pPr lvl="1">
              <a:buFont typeface="Courier New"/>
              <a:buChar char="o"/>
            </a:pPr>
            <a:r>
              <a:rPr lang="en-US" b="1"/>
              <a:t>Header </a:t>
            </a:r>
          </a:p>
          <a:p>
            <a:pPr lvl="2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Token type (JWT) </a:t>
            </a:r>
            <a:endParaRPr lang="en-US"/>
          </a:p>
          <a:p>
            <a:pPr lvl="2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Algorithm used (e.g., HS256)                                             </a:t>
            </a:r>
            <a:r>
              <a:rPr lang="en-US" b="1">
                <a:ea typeface="+mn-lt"/>
                <a:cs typeface="+mn-lt"/>
              </a:rPr>
              <a:t>Signature- </a:t>
            </a:r>
            <a:r>
              <a:rPr lang="en-US">
                <a:ea typeface="+mn-lt"/>
                <a:cs typeface="+mn-lt"/>
              </a:rPr>
              <a:t>Used to verify token integrity</a:t>
            </a:r>
            <a:endParaRPr lang="en-US"/>
          </a:p>
          <a:p>
            <a:pPr lvl="2">
              <a:buFont typeface="Wingdings"/>
              <a:buChar char="§"/>
            </a:pPr>
            <a:endParaRPr lang="en-US" b="1" dirty="0"/>
          </a:p>
          <a:p>
            <a:pPr lvl="2">
              <a:buFont typeface="Wingdings"/>
              <a:buChar char="§"/>
            </a:pPr>
            <a:endParaRPr lang="en-US" dirty="0"/>
          </a:p>
          <a:p>
            <a:pPr lvl="2">
              <a:buFont typeface="Wingdings"/>
              <a:buChar char="§"/>
            </a:pPr>
            <a:endParaRPr lang="en-US" dirty="0"/>
          </a:p>
          <a:p>
            <a:pPr lvl="1">
              <a:buFont typeface="Courier New"/>
              <a:buChar char="o"/>
            </a:pPr>
            <a:endParaRPr lang="en-US" dirty="0"/>
          </a:p>
          <a:p>
            <a:pPr lvl="1">
              <a:buFont typeface="Courier New"/>
              <a:buChar char="o"/>
            </a:pPr>
            <a:endParaRPr lang="en-US" dirty="0"/>
          </a:p>
          <a:p>
            <a:pPr lvl="1">
              <a:buFont typeface="Courier New"/>
              <a:buChar char="o"/>
            </a:pPr>
            <a:endParaRPr lang="en-US" dirty="0"/>
          </a:p>
          <a:p>
            <a:pPr lvl="1">
              <a:buFont typeface="Courier New"/>
              <a:buChar char="o"/>
            </a:pPr>
            <a:endParaRPr lang="en-US" dirty="0"/>
          </a:p>
          <a:p>
            <a:pPr lvl="1">
              <a:buFont typeface="Courier New"/>
              <a:buChar char="o"/>
            </a:pPr>
            <a:r>
              <a:rPr lang="en-US" b="1"/>
              <a:t>Payload </a:t>
            </a:r>
          </a:p>
          <a:p>
            <a:pPr lvl="2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Contains user data (claims):</a:t>
            </a:r>
            <a:endParaRPr lang="en-US" dirty="0"/>
          </a:p>
          <a:p>
            <a:pPr lvl="2">
              <a:buFont typeface="Wingdings"/>
              <a:buChar char="§"/>
            </a:pPr>
            <a:endParaRPr lang="en-US" dirty="0"/>
          </a:p>
          <a:p>
            <a:pPr lvl="2">
              <a:buFont typeface="Wingdings"/>
              <a:buChar char="§"/>
            </a:pPr>
            <a:endParaRPr lang="en-US" dirty="0"/>
          </a:p>
          <a:p>
            <a:pPr lvl="2"/>
            <a:endParaRPr lang="en-US" dirty="0"/>
          </a:p>
          <a:p>
            <a:pPr lvl="1">
              <a:buFont typeface="Courier New"/>
              <a:buChar char="o"/>
            </a:pPr>
            <a:endParaRPr lang="en-US" dirty="0"/>
          </a:p>
          <a:p>
            <a:pPr algn="ctr"/>
            <a:endParaRPr lang="en-US"/>
          </a:p>
        </p:txBody>
      </p:sp>
      <p:pic>
        <p:nvPicPr>
          <p:cNvPr id="8" name="Picture 7" descr="A close-up of a text&#10;&#10;AI-generated content may be incorrect.">
            <a:extLst>
              <a:ext uri="{FF2B5EF4-FFF2-40B4-BE49-F238E27FC236}">
                <a16:creationId xmlns:a16="http://schemas.microsoft.com/office/drawing/2014/main" id="{382EB30C-FB3D-E5C8-F93A-9AC69ED6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389" y="2605675"/>
            <a:ext cx="2524125" cy="1333500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AA740EF-23C9-D8A5-A393-9CB393E54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225" y="4181671"/>
            <a:ext cx="2495550" cy="1438275"/>
          </a:xfrm>
          <a:prstGeom prst="rect">
            <a:avLst/>
          </a:prstGeom>
        </p:spPr>
      </p:pic>
      <p:pic>
        <p:nvPicPr>
          <p:cNvPr id="10" name="Picture 9" descr="A black and white text&#10;&#10;AI-generated content may be incorrect.">
            <a:extLst>
              <a:ext uri="{FF2B5EF4-FFF2-40B4-BE49-F238E27FC236}">
                <a16:creationId xmlns:a16="http://schemas.microsoft.com/office/drawing/2014/main" id="{A04F0CF1-DD88-3F0D-768E-807F50372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637" y="2870939"/>
            <a:ext cx="32861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5929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2AAF4-DE0B-6110-E63A-C618DA8F4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99900" cy="2060907"/>
          </a:xfrm>
        </p:spPr>
        <p:txBody>
          <a:bodyPr/>
          <a:lstStyle/>
          <a:p>
            <a:r>
              <a:rPr lang="en-US"/>
              <a:t>One-line Interview Answer</a:t>
            </a:r>
          </a:p>
          <a:p>
            <a:r>
              <a:rPr lang="en-US" b="0">
                <a:ea typeface="+mj-lt"/>
                <a:cs typeface="+mj-lt"/>
              </a:rPr>
              <a:t>👉 </a:t>
            </a:r>
            <a:r>
              <a:rPr lang="en-US" b="0" i="1">
                <a:ea typeface="+mj-lt"/>
                <a:cs typeface="+mj-lt"/>
              </a:rPr>
              <a:t>“</a:t>
            </a:r>
            <a:r>
              <a:rPr lang="en-US" sz="1800" b="0" i="1">
                <a:latin typeface="Times New Roman"/>
                <a:ea typeface="+mj-lt"/>
                <a:cs typeface="Times New Roman"/>
              </a:rPr>
              <a:t>JWT is a compact, secure token used for authentication, consisting of Header, Payload, and Signature, and it is sent with each request to verify the user.”</a:t>
            </a:r>
            <a:endParaRPr lang="en-US" sz="180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1C05A-D6FC-7D5B-7D13-31FCA94DF6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27861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8F446-650D-D9CA-B299-6737C8C749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122</a:t>
            </a:fld>
            <a:endParaRPr lang="en-US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9B8E83C-73A7-C804-5DF1-4DAE6673F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20" y="1444082"/>
            <a:ext cx="6353175" cy="2905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126FAB-AA25-F7E8-FBE7-8449C0DC2EFB}"/>
              </a:ext>
            </a:extLst>
          </p:cNvPr>
          <p:cNvSpPr txBox="1"/>
          <p:nvPr/>
        </p:nvSpPr>
        <p:spPr>
          <a:xfrm>
            <a:off x="899922" y="430398"/>
            <a:ext cx="44213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Simple </a:t>
            </a:r>
            <a:r>
              <a:rPr lang="en-US" b="1" dirty="0" err="1"/>
              <a:t>GetAPI</a:t>
            </a:r>
            <a:r>
              <a:rPr lang="en-US" b="1" dirty="0"/>
              <a:t> in </a:t>
            </a:r>
            <a:r>
              <a:rPr lang="en-US" b="1" dirty="0" err="1"/>
              <a:t>.Net</a:t>
            </a:r>
            <a:r>
              <a:rPr lang="en-US" b="1" dirty="0"/>
              <a:t> Core</a:t>
            </a:r>
          </a:p>
        </p:txBody>
      </p:sp>
    </p:spTree>
    <p:extLst>
      <p:ext uri="{BB962C8B-B14F-4D97-AF65-F5344CB8AC3E}">
        <p14:creationId xmlns:p14="http://schemas.microsoft.com/office/powerpoint/2010/main" val="421058117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439538-C700-51F5-1FD7-2FE0120C0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468" y="676447"/>
            <a:ext cx="4067780" cy="545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0353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2C492-D4E9-373E-0C96-5F624EF2E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A8D44F-B5B5-3561-F341-FB1892656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914860"/>
              </p:ext>
            </p:extLst>
          </p:nvPr>
        </p:nvGraphicFramePr>
        <p:xfrm>
          <a:off x="431006" y="765810"/>
          <a:ext cx="11329988" cy="2383155"/>
        </p:xfrm>
        <a:graphic>
          <a:graphicData uri="http://schemas.openxmlformats.org/drawingml/2006/table">
            <a:tbl>
              <a:tblPr/>
              <a:tblGrid>
                <a:gridCol w="11329988">
                  <a:extLst>
                    <a:ext uri="{9D8B030D-6E8A-4147-A177-3AD203B41FA5}">
                      <a16:colId xmlns:a16="http://schemas.microsoft.com/office/drawing/2014/main" val="1095605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✅ STATIC vs SINGLETON vs THREAD SAFETY — QUICK REVISION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✅ STATIC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One shared instance for the entire application.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Shared by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all users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and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all requests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No automatic thread safety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→ no locks, no protection.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Dangerous for mutable data (e.g., storing logged-in user).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Should NOT store per-user state.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Good only for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constants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or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immutable global data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108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2025204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94FA2B-8039-AD5A-B6AD-6625FA3B1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614630"/>
              </p:ext>
            </p:extLst>
          </p:nvPr>
        </p:nvGraphicFramePr>
        <p:xfrm>
          <a:off x="431006" y="2984077"/>
          <a:ext cx="11329988" cy="2954655"/>
        </p:xfrm>
        <a:graphic>
          <a:graphicData uri="http://schemas.openxmlformats.org/drawingml/2006/table">
            <a:tbl>
              <a:tblPr/>
              <a:tblGrid>
                <a:gridCol w="11329988">
                  <a:extLst>
                    <a:ext uri="{9D8B030D-6E8A-4147-A177-3AD203B41FA5}">
                      <a16:colId xmlns:a16="http://schemas.microsoft.com/office/drawing/2014/main" val="30492211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✅ SINGLETON (in DI)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Also one shared instance across the entire app.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But created and managed by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Dependency Injection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Can receive dependencies (static cannot).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Better for: 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configuration services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caching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token generation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logging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shared application logic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NOT meant for user-specific data.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Shared across users but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intended for stateless services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5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26421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13930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33D5-3B7A-4D92-B46F-E2C9BB1A2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102A4B-4AA8-DC8F-9212-66EA0B4B1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743805"/>
              </p:ext>
            </p:extLst>
          </p:nvPr>
        </p:nvGraphicFramePr>
        <p:xfrm>
          <a:off x="431006" y="1041401"/>
          <a:ext cx="11329988" cy="2633490"/>
        </p:xfrm>
        <a:graphic>
          <a:graphicData uri="http://schemas.openxmlformats.org/drawingml/2006/table">
            <a:tbl>
              <a:tblPr/>
              <a:tblGrid>
                <a:gridCol w="11329988">
                  <a:extLst>
                    <a:ext uri="{9D8B030D-6E8A-4147-A177-3AD203B41FA5}">
                      <a16:colId xmlns:a16="http://schemas.microsoft.com/office/drawing/2014/main" val="785233867"/>
                    </a:ext>
                  </a:extLst>
                </a:gridCol>
              </a:tblGrid>
              <a:tr h="186040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✅ THREAD SAFETY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ASP.NET handles requests using a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thread pool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: 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Different users may run on different threads.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Same user may run on different threads across requests.</a:t>
                      </a:r>
                    </a:p>
                    <a:p>
                      <a:pPr marL="457200" lvl="1" indent="0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Thread safety means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shared data is protected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when accessed by multiple threads.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Achieved via locks, immutability, or thread-safe collections.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Static/Singleton do </a:t>
                      </a: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NOT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automatically include any thread safety.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787497"/>
                  </a:ext>
                </a:extLst>
              </a:tr>
              <a:tr h="4255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546989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FE3FEF-C786-FDD7-799D-16851B3D7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309200"/>
              </p:ext>
            </p:extLst>
          </p:nvPr>
        </p:nvGraphicFramePr>
        <p:xfrm>
          <a:off x="431006" y="3530601"/>
          <a:ext cx="11329988" cy="2573655"/>
        </p:xfrm>
        <a:graphic>
          <a:graphicData uri="http://schemas.openxmlformats.org/drawingml/2006/table">
            <a:tbl>
              <a:tblPr/>
              <a:tblGrid>
                <a:gridCol w="11329988">
                  <a:extLst>
                    <a:ext uri="{9D8B030D-6E8A-4147-A177-3AD203B41FA5}">
                      <a16:colId xmlns:a16="http://schemas.microsoft.com/office/drawing/2014/main" val="3076699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✅ KEY RULE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i="0" dirty="0">
                          <a:effectLst/>
                          <a:latin typeface="Segoe UI" panose="020B0502040204020203" pitchFamily="34" charset="0"/>
                        </a:rPr>
                        <a:t>Never store user/session/login data in static or singleton.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Use: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Cookies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JWT tokens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Claims (</a:t>
                      </a:r>
                      <a:r>
                        <a:rPr lang="en-US" b="0" i="0" dirty="0" err="1">
                          <a:effectLst/>
                          <a:latin typeface="Courier New" panose="02070309020205020404" pitchFamily="49" charset="0"/>
                        </a:rPr>
                        <a:t>HttpContext.User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)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30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586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8944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146EB691-4DD5-4558-B7D1-3EA8CC81E2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d5b202c-8c07-4168-a551-66f570d429b3}" enabled="0" method="" siteId="{2d5b202c-8c07-4168-a551-66f570d429b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2919</TotalTime>
  <Words>5118</Words>
  <Application>Microsoft Office PowerPoint</Application>
  <PresentationFormat>Widescreen</PresentationFormat>
  <Paragraphs>1143</Paragraphs>
  <Slides>125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125</vt:i4>
      </vt:variant>
    </vt:vector>
  </HeadingPairs>
  <TitlesOfParts>
    <vt:vector size="135" baseType="lpstr">
      <vt:lpstr>Aptos</vt:lpstr>
      <vt:lpstr>Aptos Light</vt:lpstr>
      <vt:lpstr>Arial</vt:lpstr>
      <vt:lpstr>Calibri</vt:lpstr>
      <vt:lpstr>Consolas</vt:lpstr>
      <vt:lpstr>Courier New</vt:lpstr>
      <vt:lpstr>Segoe UI</vt:lpstr>
      <vt:lpstr>Times New Roman</vt:lpstr>
      <vt:lpstr>Wingdings</vt:lpstr>
      <vt:lpstr>Custom</vt:lpstr>
      <vt:lpstr>🟦 Day 1 – .NET &amp; C# Fundamentals (Must-Answer Questions)  </vt:lpstr>
      <vt:lpstr>Agenda</vt:lpstr>
      <vt:lpstr>What is .NET? </vt:lpstr>
      <vt:lpstr>What is .NET? </vt:lpstr>
      <vt:lpstr>Difference: .NET Framework vs .NET Core vs .NET </vt:lpstr>
      <vt:lpstr>What is IL (Intermediate Language)? </vt:lpstr>
      <vt:lpstr>What is CLR? </vt:lpstr>
      <vt:lpstr>Managed Code vs Unmanaged Code</vt:lpstr>
      <vt:lpstr>Why is .NET called a Managed Environment?</vt:lpstr>
      <vt:lpstr>🟦 Day 2 – .NET &amp; C# Fundamentals (Must-Answer Questions)  </vt:lpstr>
      <vt:lpstr>Agenda</vt:lpstr>
      <vt:lpstr>Stack vs Heap (Concept)</vt:lpstr>
      <vt:lpstr>Stack vs Heap (Concept)</vt:lpstr>
      <vt:lpstr>Stack vs Heap (Real Example)</vt:lpstr>
      <vt:lpstr>Value Types vs Reference Types</vt:lpstr>
      <vt:lpstr>Value vs Reference (Code Example)</vt:lpstr>
      <vt:lpstr>Memory Lifecycle of an Object</vt:lpstr>
      <vt:lpstr>What Happens When an Object Is Created?</vt:lpstr>
      <vt:lpstr>Why Structs Are Stored Differently from Classes</vt:lpstr>
      <vt:lpstr>Boxing &amp; Unboxing (Concept)      (Memory View)</vt:lpstr>
      <vt:lpstr>Performance Impact of Boxing      Real Project Example</vt:lpstr>
      <vt:lpstr>Whiteboard Summary (Must Say in Interview)</vt:lpstr>
      <vt:lpstr>🟦 Day 3 – .NET &amp; C# Fundamentals (Must-Answer Questions)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Inheritance (Concept)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4 – .NET &amp; C# Fundamentals (Must-Answer Questions)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5 – .NET &amp; C# Fundamentals (Must-Answer Questions)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6 – SQL Fundamentals (Must-Answer Questions)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7 – SQL Fundamentals (Must-Answer Questions)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8 – SQL Fundamentals (Must-Answer Questions)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9 – NET Application &amp; Project Explanation 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🟦 Day 10– Mock Interview  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Async/Await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One-line Interview Answer 👉 “JWT is a compact, secure token used for authentication, consisting of Header, Payload, and Signature, and it is sent with each request to verify the user.”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Singh, Vivek</cp:lastModifiedBy>
  <cp:revision>1291</cp:revision>
  <dcterms:created xsi:type="dcterms:W3CDTF">2023-08-29T05:36:21Z</dcterms:created>
  <dcterms:modified xsi:type="dcterms:W3CDTF">2026-07-21T15:25:12Z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